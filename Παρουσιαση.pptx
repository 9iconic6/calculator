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Γιωργος Λεονταρακης" initials="ΓΛ" lastIdx="1" clrIdx="0">
    <p:extLst>
      <p:ext uri="{19B8F6BF-5375-455C-9EA6-DF929625EA0E}">
        <p15:presenceInfo xmlns:p15="http://schemas.microsoft.com/office/powerpoint/2012/main" userId="689cfd5e309240b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8" d="100"/>
          <a:sy n="108" d="100"/>
        </p:scale>
        <p:origin x="65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6-06T00:11:15.920" idx="1">
    <p:pos x="7494" y="1255"/>
    <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Διαφάνεια τίτλου">
    <p:spTree>
      <p:nvGrpSpPr>
        <p:cNvPr id="1" name=""/>
        <p:cNvGrpSpPr/>
        <p:nvPr/>
      </p:nvGrpSpPr>
      <p:grpSpPr>
        <a:xfrm>
          <a:off x="0" y="0"/>
          <a:ext cx="0" cy="0"/>
          <a:chOff x="0" y="0"/>
          <a:chExt cx="0" cy="0"/>
        </a:xfrm>
      </p:grpSpPr>
      <p:grpSp>
        <p:nvGrpSpPr>
          <p:cNvPr id="18" name="Group 17"/>
          <p:cNvGrpSpPr/>
          <p:nvPr/>
        </p:nvGrpSpPr>
        <p:grpSpPr>
          <a:xfrm>
            <a:off x="0" y="0"/>
            <a:ext cx="12192000" cy="6858000"/>
            <a:chOff x="0" y="0"/>
            <a:chExt cx="12192000" cy="6858000"/>
          </a:xfrm>
        </p:grpSpPr>
        <p:sp>
          <p:nvSpPr>
            <p:cNvPr id="8" name="Rectangle 7"/>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Oval 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Oval 10"/>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l-GR"/>
              <a:t>Κάντε κλικ για να επεξεργαστείτε τον τίτλο υποδείγματος</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l-GR"/>
              <a:t>Κάντε κλικ για να επεξεργαστείτε τον υπότιτλο του υποδείγματος</a:t>
            </a:r>
            <a:endParaRPr lang="en-US" dirty="0"/>
          </a:p>
        </p:txBody>
      </p:sp>
      <p:sp>
        <p:nvSpPr>
          <p:cNvPr id="4" name="Date Placeholder 3"/>
          <p:cNvSpPr>
            <a:spLocks noGrp="1"/>
          </p:cNvSpPr>
          <p:nvPr>
            <p:ph type="dt" sz="half" idx="10"/>
          </p:nvPr>
        </p:nvSpPr>
        <p:spPr bwMode="gray">
          <a:xfrm rot="5400000">
            <a:off x="10176279" y="1792223"/>
            <a:ext cx="990599" cy="304799"/>
          </a:xfrm>
        </p:spPr>
        <p:txBody>
          <a:bodyPr anchor="t"/>
          <a:lstStyle>
            <a:lvl1pPr algn="l">
              <a:defRPr b="0" i="0">
                <a:solidFill>
                  <a:schemeClr val="bg1"/>
                </a:solidFill>
              </a:defRPr>
            </a:lvl1pPr>
          </a:lstStyle>
          <a:p>
            <a:fld id="{08BA9F5E-4C00-47F0-AAB4-64010DC8CB25}" type="datetimeFigureOut">
              <a:rPr lang="el-GR" smtClean="0"/>
              <a:t>6/6/2025</a:t>
            </a:fld>
            <a:endParaRPr lang="el-GR"/>
          </a:p>
        </p:txBody>
      </p:sp>
      <p:sp>
        <p:nvSpPr>
          <p:cNvPr id="5" name="Footer Placeholder 4"/>
          <p:cNvSpPr>
            <a:spLocks noGrp="1"/>
          </p:cNvSpPr>
          <p:nvPr>
            <p:ph type="ftr" sz="quarter" idx="11"/>
          </p:nvPr>
        </p:nvSpPr>
        <p:spPr bwMode="gray">
          <a:xfrm rot="5400000">
            <a:off x="8963575" y="3226820"/>
            <a:ext cx="3859795" cy="304801"/>
          </a:xfrm>
        </p:spPr>
        <p:txBody>
          <a:bodyPr anchor="b"/>
          <a:lstStyle>
            <a:lvl1pPr>
              <a:defRPr b="0" i="0">
                <a:solidFill>
                  <a:schemeClr val="bg1"/>
                </a:solidFill>
              </a:defRPr>
            </a:lvl1pPr>
          </a:lstStyle>
          <a:p>
            <a:endParaRPr lang="el-GR"/>
          </a:p>
        </p:txBody>
      </p:sp>
      <p:sp>
        <p:nvSpPr>
          <p:cNvPr id="17" name="Rectangle 16"/>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vl1pPr>
          </a:lstStyle>
          <a:p>
            <a:fld id="{9B6C154E-DBEC-43DA-8E06-28F97975F99B}" type="slidenum">
              <a:rPr lang="el-GR" smtClean="0"/>
              <a:t>‹#›</a:t>
            </a:fld>
            <a:endParaRPr lang="el-GR"/>
          </a:p>
        </p:txBody>
      </p:sp>
    </p:spTree>
    <p:extLst>
      <p:ext uri="{BB962C8B-B14F-4D97-AF65-F5344CB8AC3E}">
        <p14:creationId xmlns:p14="http://schemas.microsoft.com/office/powerpoint/2010/main" val="3176552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08BA9F5E-4C00-47F0-AAB4-64010DC8CB25}" type="datetimeFigureOut">
              <a:rPr lang="el-GR" smtClean="0"/>
              <a:t>6/6/2025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3401095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Κεφαλίδα ενότητας">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4"/>
            <a:ext cx="4351023" cy="2283823"/>
          </a:xfrm>
        </p:spPr>
        <p:txBody>
          <a:bodyPr anchor="ctr"/>
          <a:lstStyle>
            <a:lvl1pPr algn="l">
              <a:defRPr sz="4000" b="0" cap="none"/>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08BA9F5E-4C00-47F0-AAB4-64010DC8CB25}" type="datetimeFigureOut">
              <a:rPr lang="el-GR" smtClean="0"/>
              <a:t>6/6/2025</a:t>
            </a:fld>
            <a:endParaRPr lang="el-GR"/>
          </a:p>
        </p:txBody>
      </p:sp>
      <p:sp>
        <p:nvSpPr>
          <p:cNvPr id="5" name="Footer Placeholder 4"/>
          <p:cNvSpPr>
            <a:spLocks noGrp="1"/>
          </p:cNvSpPr>
          <p:nvPr>
            <p:ph type="ftr" sz="quarter" idx="11"/>
          </p:nvPr>
        </p:nvSpPr>
        <p:spPr/>
        <p:txBody>
          <a:bodyPr/>
          <a:lstStyle/>
          <a:p>
            <a:endParaRPr lang="el-G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2671724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sz="half" idx="1"/>
          </p:nvPr>
        </p:nvSpPr>
        <p:spPr>
          <a:xfrm>
            <a:off x="1151368" y="2603500"/>
            <a:ext cx="4828744" cy="3416301"/>
          </a:xfrm>
        </p:spPr>
        <p:txBody>
          <a:bodyP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Content Placeholder 3"/>
          <p:cNvSpPr>
            <a:spLocks noGrp="1"/>
          </p:cNvSpPr>
          <p:nvPr>
            <p:ph sz="half" idx="2"/>
          </p:nvPr>
        </p:nvSpPr>
        <p:spPr>
          <a:xfrm>
            <a:off x="6208711" y="2603500"/>
            <a:ext cx="4825159" cy="3377705"/>
          </a:xfrm>
        </p:spPr>
        <p:txBody>
          <a:bodyP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Date Placeholder 4"/>
          <p:cNvSpPr>
            <a:spLocks noGrp="1"/>
          </p:cNvSpPr>
          <p:nvPr>
            <p:ph type="dt" sz="half" idx="10"/>
          </p:nvPr>
        </p:nvSpPr>
        <p:spPr/>
        <p:txBody>
          <a:bodyPr/>
          <a:lstStyle/>
          <a:p>
            <a:fld id="{08BA9F5E-4C00-47F0-AAB4-64010DC8CB25}" type="datetimeFigureOut">
              <a:rPr lang="el-GR" smtClean="0"/>
              <a:t>6/6/2025</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3807834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154954" y="2636063"/>
            <a:ext cx="482515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Content Placeholder 3"/>
          <p:cNvSpPr>
            <a:spLocks noGrp="1"/>
          </p:cNvSpPr>
          <p:nvPr>
            <p:ph sz="half" idx="2"/>
          </p:nvPr>
        </p:nvSpPr>
        <p:spPr>
          <a:xfrm>
            <a:off x="1154954" y="3212326"/>
            <a:ext cx="4825158" cy="2807476"/>
          </a:xfrm>
        </p:spPr>
        <p:txBody>
          <a:bodyP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Text Placeholder 4"/>
          <p:cNvSpPr>
            <a:spLocks noGrp="1"/>
          </p:cNvSpPr>
          <p:nvPr>
            <p:ph type="body" sz="quarter" idx="3"/>
          </p:nvPr>
        </p:nvSpPr>
        <p:spPr>
          <a:xfrm>
            <a:off x="6208711" y="2603499"/>
            <a:ext cx="4825160" cy="608825"/>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Content Placeholder 5"/>
          <p:cNvSpPr>
            <a:spLocks noGrp="1"/>
          </p:cNvSpPr>
          <p:nvPr>
            <p:ph sz="quarter" idx="4"/>
          </p:nvPr>
        </p:nvSpPr>
        <p:spPr>
          <a:xfrm>
            <a:off x="6208712" y="3212327"/>
            <a:ext cx="4825159" cy="2807474"/>
          </a:xfrm>
        </p:spPr>
        <p:txBody>
          <a:bodyP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7" name="Date Placeholder 6"/>
          <p:cNvSpPr>
            <a:spLocks noGrp="1"/>
          </p:cNvSpPr>
          <p:nvPr>
            <p:ph type="dt" sz="half" idx="10"/>
          </p:nvPr>
        </p:nvSpPr>
        <p:spPr/>
        <p:txBody>
          <a:bodyPr/>
          <a:lstStyle/>
          <a:p>
            <a:fld id="{08BA9F5E-4C00-47F0-AAB4-64010DC8CB25}" type="datetimeFigureOut">
              <a:rPr lang="el-GR" smtClean="0"/>
              <a:t>6/6/2025</a:t>
            </a:fld>
            <a:endParaRPr lang="el-GR"/>
          </a:p>
        </p:txBody>
      </p:sp>
      <p:sp>
        <p:nvSpPr>
          <p:cNvPr id="8" name="Footer Placeholder 7"/>
          <p:cNvSpPr>
            <a:spLocks noGrp="1"/>
          </p:cNvSpPr>
          <p:nvPr>
            <p:ph type="ftr" sz="quarter" idx="11"/>
          </p:nvPr>
        </p:nvSpPr>
        <p:spPr/>
        <p:txBody>
          <a:bodyPr/>
          <a:lstStyle/>
          <a:p>
            <a:endParaRPr lang="el-GR"/>
          </a:p>
        </p:txBody>
      </p:sp>
      <p:sp>
        <p:nvSpPr>
          <p:cNvPr id="9" name="Slide Number Placeholder 8"/>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1177363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Date Placeholder 2"/>
          <p:cNvSpPr>
            <a:spLocks noGrp="1"/>
          </p:cNvSpPr>
          <p:nvPr>
            <p:ph type="dt" sz="half" idx="10"/>
          </p:nvPr>
        </p:nvSpPr>
        <p:spPr/>
        <p:txBody>
          <a:bodyPr/>
          <a:lstStyle/>
          <a:p>
            <a:fld id="{08BA9F5E-4C00-47F0-AAB4-64010DC8CB25}" type="datetimeFigureOut">
              <a:rPr lang="el-GR" smtClean="0"/>
              <a:t>6/6/2025</a:t>
            </a:fld>
            <a:endParaRPr lang="el-GR"/>
          </a:p>
        </p:txBody>
      </p:sp>
      <p:sp>
        <p:nvSpPr>
          <p:cNvPr id="4" name="Footer Placeholder 3"/>
          <p:cNvSpPr>
            <a:spLocks noGrp="1"/>
          </p:cNvSpPr>
          <p:nvPr>
            <p:ph type="ftr" sz="quarter" idx="11"/>
          </p:nvPr>
        </p:nvSpPr>
        <p:spPr/>
        <p:txBody>
          <a:bodyPr/>
          <a:lstStyle/>
          <a:p>
            <a:endParaRPr lang="el-GR"/>
          </a:p>
        </p:txBody>
      </p:sp>
      <p:sp>
        <p:nvSpPr>
          <p:cNvPr id="5" name="Slide Number Placeholder 4"/>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1941395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Κενό">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BA9F5E-4C00-47F0-AAB4-64010DC8CB25}" type="datetimeFigureOut">
              <a:rPr lang="el-GR" smtClean="0"/>
              <a:t>6/6/2025</a:t>
            </a:fld>
            <a:endParaRPr lang="el-GR"/>
          </a:p>
        </p:txBody>
      </p:sp>
      <p:sp>
        <p:nvSpPr>
          <p:cNvPr id="3" name="Footer Placeholder 2"/>
          <p:cNvSpPr>
            <a:spLocks noGrp="1"/>
          </p:cNvSpPr>
          <p:nvPr>
            <p:ph type="ftr" sz="quarter" idx="11"/>
          </p:nvPr>
        </p:nvSpPr>
        <p:spPr/>
        <p:txBody>
          <a:bodyPr/>
          <a:lstStyle/>
          <a:p>
            <a:endParaRPr lang="el-GR"/>
          </a:p>
        </p:txBody>
      </p:sp>
      <p:sp>
        <p:nvSpPr>
          <p:cNvPr id="6" name="Rectangle 5"/>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763785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Περιεχόμενο με λεζάντα">
    <p:spTree>
      <p:nvGrpSpPr>
        <p:cNvPr id="1" name=""/>
        <p:cNvGrpSpPr/>
        <p:nvPr/>
      </p:nvGrpSpPr>
      <p:grpSpPr>
        <a:xfrm>
          <a:off x="0" y="0"/>
          <a:ext cx="0" cy="0"/>
          <a:chOff x="0" y="0"/>
          <a:chExt cx="0" cy="0"/>
        </a:xfrm>
      </p:grpSpPr>
      <p:grpSp>
        <p:nvGrpSpPr>
          <p:cNvPr id="11" name="Group 10"/>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8" cy="1600200"/>
          </a:xfrm>
        </p:spPr>
        <p:txBody>
          <a:bodyPr anchor="b"/>
          <a:lstStyle>
            <a:lvl1pPr algn="l">
              <a:defRPr sz="2400" b="0"/>
            </a:lvl1p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Text Placeholder 3"/>
          <p:cNvSpPr>
            <a:spLocks noGrp="1"/>
          </p:cNvSpPr>
          <p:nvPr>
            <p:ph type="body" sz="half" idx="2"/>
          </p:nvPr>
        </p:nvSpPr>
        <p:spPr bwMode="gray">
          <a:xfrm>
            <a:off x="1154955" y="3129280"/>
            <a:ext cx="2793158" cy="289559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08BA9F5E-4C00-47F0-AAB4-64010DC8CB25}" type="datetimeFigureOut">
              <a:rPr lang="el-GR" smtClean="0"/>
              <a:t>6/6/2025</a:t>
            </a:fld>
            <a:endParaRPr lang="el-GR"/>
          </a:p>
        </p:txBody>
      </p:sp>
      <p:sp>
        <p:nvSpPr>
          <p:cNvPr id="6" name="Footer Placeholder 5"/>
          <p:cNvSpPr>
            <a:spLocks noGrp="1"/>
          </p:cNvSpPr>
          <p:nvPr>
            <p:ph type="ftr" sz="quarter" idx="11"/>
          </p:nvPr>
        </p:nvSpPr>
        <p:spPr/>
        <p:txBody>
          <a:bodyPr/>
          <a:lstStyle/>
          <a:p>
            <a:endParaRPr lang="el-G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1458621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Εικόνα με λεζάντα">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8" name="Rectangle 7"/>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p:spPr>
        <p:txBody>
          <a:bodyPr anchor="b">
            <a:normAutofit/>
          </a:bodyPr>
          <a:lstStyle>
            <a:lvl1pPr algn="l">
              <a:defRPr sz="3600" b="0"/>
            </a:lvl1pPr>
          </a:lstStyle>
          <a:p>
            <a:r>
              <a:rPr lang="el-GR"/>
              <a:t>Κάντε κλικ για να επεξεργαστείτε τον τίτλο υποδείγματος</a:t>
            </a:r>
            <a:endParaRPr lang="en-US" dirty="0"/>
          </a:p>
        </p:txBody>
      </p:sp>
      <p:sp>
        <p:nvSpPr>
          <p:cNvPr id="3" name="Picture Placeholder 2"/>
          <p:cNvSpPr>
            <a:spLocks noGrp="1" noChangeAspect="1"/>
          </p:cNvSpPr>
          <p:nvPr>
            <p:ph type="pic" idx="1"/>
          </p:nvPr>
        </p:nvSpPr>
        <p:spPr>
          <a:xfrm>
            <a:off x="6547872" y="1143000"/>
            <a:ext cx="3227192"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l-GR"/>
              <a:t>Κάντε κλικ στο εικονίδιο για να προσθέσετε εικόνα</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08BA9F5E-4C00-47F0-AAB4-64010DC8CB25}" type="datetimeFigureOut">
              <a:rPr lang="el-GR" smtClean="0"/>
              <a:t>6/6/2025</a:t>
            </a:fld>
            <a:endParaRPr lang="el-GR"/>
          </a:p>
        </p:txBody>
      </p:sp>
      <p:sp>
        <p:nvSpPr>
          <p:cNvPr id="6" name="Footer Placeholder 5"/>
          <p:cNvSpPr>
            <a:spLocks noGrp="1"/>
          </p:cNvSpPr>
          <p:nvPr>
            <p:ph type="ftr" sz="quarter" idx="11"/>
          </p:nvPr>
        </p:nvSpPr>
        <p:spPr/>
        <p:txBody>
          <a:bodyPr/>
          <a:lstStyle/>
          <a:p>
            <a:endParaRPr lang="el-G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182487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Πανοραμική εικόνα με λεζάντα">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5945"/>
            <a:ext cx="8825657" cy="566738"/>
          </a:xfrm>
        </p:spPr>
        <p:txBody>
          <a:bodyPr anchor="b">
            <a:normAutofit/>
          </a:bodyPr>
          <a:lstStyle>
            <a:lvl1pPr algn="l">
              <a:defRPr sz="2400" b="0"/>
            </a:lvl1pPr>
          </a:lstStyle>
          <a:p>
            <a:r>
              <a:rPr lang="el-GR"/>
              <a:t>Κάντε κλικ για να επεξεργαστείτε τον τίτλο υποδείγματος</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l-GR"/>
              <a:t>Κάντε κλικ στο εικονίδιο για να προσθέσετε εικόνα</a:t>
            </a:r>
            <a:endParaRPr lang="en-US" dirty="0"/>
          </a:p>
        </p:txBody>
      </p:sp>
      <p:sp>
        <p:nvSpPr>
          <p:cNvPr id="4" name="Text Placeholder 3"/>
          <p:cNvSpPr>
            <a:spLocks noGrp="1"/>
          </p:cNvSpPr>
          <p:nvPr>
            <p:ph type="body" sz="half" idx="2"/>
          </p:nvPr>
        </p:nvSpPr>
        <p:spPr bwMode="gray">
          <a:xfrm>
            <a:off x="1154956" y="5532683"/>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08BA9F5E-4C00-47F0-AAB4-64010DC8CB25}" type="datetimeFigureOut">
              <a:rPr lang="el-GR" smtClean="0"/>
              <a:t>6/6/2025</a:t>
            </a:fld>
            <a:endParaRPr lang="el-GR"/>
          </a:p>
        </p:txBody>
      </p:sp>
      <p:sp>
        <p:nvSpPr>
          <p:cNvPr id="6" name="Footer Placeholder 5"/>
          <p:cNvSpPr>
            <a:spLocks noGrp="1"/>
          </p:cNvSpPr>
          <p:nvPr>
            <p:ph type="ftr" sz="quarter" idx="11"/>
          </p:nvPr>
        </p:nvSpPr>
        <p:spPr/>
        <p:txBody>
          <a:bodyPr/>
          <a:lstStyle/>
          <a:p>
            <a:endParaRPr lang="el-GR"/>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1418666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Τίτλος και λεζάντα">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nchor="ctr"/>
          <a:lstStyle>
            <a:lvl1pPr>
              <a:defRPr sz="4000"/>
            </a:lvl1pPr>
          </a:lstStyle>
          <a:p>
            <a:r>
              <a:rPr lang="el-GR"/>
              <a:t>Κάντε κλικ για να επεξεργαστείτε τον τίτλο υποδείγματος</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08BA9F5E-4C00-47F0-AAB4-64010DC8CB25}" type="datetimeFigureOut">
              <a:rPr lang="el-GR" smtClean="0"/>
              <a:t>6/6/2025</a:t>
            </a:fld>
            <a:endParaRPr lang="el-GR"/>
          </a:p>
        </p:txBody>
      </p:sp>
      <p:sp>
        <p:nvSpPr>
          <p:cNvPr id="5" name="Footer Placeholder 4"/>
          <p:cNvSpPr>
            <a:spLocks noGrp="1"/>
          </p:cNvSpPr>
          <p:nvPr>
            <p:ph type="ftr" sz="quarter" idx="11"/>
          </p:nvPr>
        </p:nvSpPr>
        <p:spPr/>
        <p:txBody>
          <a:bodyPr/>
          <a:lstStyle/>
          <a:p>
            <a:endParaRPr lang="el-GR"/>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71387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Εισαγωγικά με λεζάντα">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6" name="Rectangle 15"/>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TextBox 10"/>
          <p:cNvSpPr txBox="1"/>
          <p:nvPr/>
        </p:nvSpPr>
        <p:spPr bwMode="gray">
          <a:xfrm>
            <a:off x="898295" y="603589"/>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13" name="TextBox 12"/>
          <p:cNvSpPr txBox="1"/>
          <p:nvPr/>
        </p:nvSpPr>
        <p:spPr bwMode="gray">
          <a:xfrm>
            <a:off x="9705137" y="2613787"/>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74801" y="980517"/>
            <a:ext cx="8460983" cy="2705034"/>
          </a:xfrm>
        </p:spPr>
        <p:txBody>
          <a:bodyPr anchor="ctr"/>
          <a:lstStyle>
            <a:lvl1pPr>
              <a:defRPr sz="4000"/>
            </a:lvl1pPr>
          </a:lstStyle>
          <a:p>
            <a:r>
              <a:rPr lang="el-GR"/>
              <a:t>Κάντε κλικ για να επεξεργαστείτε τον τίτλο υποδείγματος</a:t>
            </a:r>
            <a:endParaRPr lang="en-US" dirty="0"/>
          </a:p>
        </p:txBody>
      </p:sp>
      <p:sp>
        <p:nvSpPr>
          <p:cNvPr id="14" name="Text Placeholder 3"/>
          <p:cNvSpPr>
            <a:spLocks noGrp="1"/>
          </p:cNvSpPr>
          <p:nvPr>
            <p:ph type="body" sz="half" idx="13"/>
          </p:nvPr>
        </p:nvSpPr>
        <p:spPr bwMode="gray">
          <a:xfrm>
            <a:off x="1945945" y="3686515"/>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10" name="Text Placeholder 3"/>
          <p:cNvSpPr>
            <a:spLocks noGrp="1"/>
          </p:cNvSpPr>
          <p:nvPr>
            <p:ph type="body" sz="half" idx="2"/>
          </p:nvPr>
        </p:nvSpPr>
        <p:spPr>
          <a:xfrm>
            <a:off x="1154954" y="5014393"/>
            <a:ext cx="8825659" cy="1012664"/>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08BA9F5E-4C00-47F0-AAB4-64010DC8CB25}" type="datetimeFigureOut">
              <a:rPr lang="el-GR" smtClean="0"/>
              <a:t>6/6/2025</a:t>
            </a:fld>
            <a:endParaRPr lang="el-GR"/>
          </a:p>
        </p:txBody>
      </p:sp>
      <p:sp>
        <p:nvSpPr>
          <p:cNvPr id="5" name="Footer Placeholder 4"/>
          <p:cNvSpPr>
            <a:spLocks noGrp="1"/>
          </p:cNvSpPr>
          <p:nvPr>
            <p:ph type="ftr" sz="quarter" idx="11"/>
          </p:nvPr>
        </p:nvSpPr>
        <p:spPr/>
        <p:txBody>
          <a:bodyPr/>
          <a:lstStyle/>
          <a:p>
            <a:endParaRPr lang="el-GR"/>
          </a:p>
        </p:txBody>
      </p:sp>
      <p:sp>
        <p:nvSpPr>
          <p:cNvPr id="24" name="Rectangle 23"/>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2014511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Κάρτα ονόματος">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2404477"/>
            <a:ext cx="8825659" cy="1788704"/>
          </a:xfrm>
        </p:spPr>
        <p:txBody>
          <a:bodyPr anchor="b"/>
          <a:lstStyle>
            <a:lvl1pPr algn="l">
              <a:defRPr sz="4000" b="0" cap="none"/>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138587" y="5024967"/>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08BA9F5E-4C00-47F0-AAB4-64010DC8CB25}" type="datetimeFigureOut">
              <a:rPr lang="el-GR" smtClean="0"/>
              <a:t>6/6/2025</a:t>
            </a:fld>
            <a:endParaRPr lang="el-GR"/>
          </a:p>
        </p:txBody>
      </p:sp>
      <p:sp>
        <p:nvSpPr>
          <p:cNvPr id="5" name="Footer Placeholder 4"/>
          <p:cNvSpPr>
            <a:spLocks noGrp="1"/>
          </p:cNvSpPr>
          <p:nvPr>
            <p:ph type="ftr" sz="quarter" idx="11"/>
          </p:nvPr>
        </p:nvSpPr>
        <p:spPr/>
        <p:txBody>
          <a:bodyPr/>
          <a:lstStyle/>
          <a:p>
            <a:endParaRPr lang="el-GR"/>
          </a:p>
        </p:txBody>
      </p:sp>
      <p:sp>
        <p:nvSpPr>
          <p:cNvPr id="12" name="Rectangle 11"/>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2662607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στήλες">
    <p:spTree>
      <p:nvGrpSpPr>
        <p:cNvPr id="1" name=""/>
        <p:cNvGrpSpPr/>
        <p:nvPr/>
      </p:nvGrpSpPr>
      <p:grpSpPr>
        <a:xfrm>
          <a:off x="0" y="0"/>
          <a:ext cx="0" cy="0"/>
          <a:chOff x="0" y="0"/>
          <a:chExt cx="0" cy="0"/>
        </a:xfrm>
      </p:grpSpPr>
      <p:sp>
        <p:nvSpPr>
          <p:cNvPr id="17"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154954" y="26109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16" name="Text Placeholder 3"/>
          <p:cNvSpPr>
            <a:spLocks noGrp="1"/>
          </p:cNvSpPr>
          <p:nvPr>
            <p:ph type="body" sz="half" idx="15"/>
          </p:nvPr>
        </p:nvSpPr>
        <p:spPr>
          <a:xfrm>
            <a:off x="1154954" y="3187261"/>
            <a:ext cx="3129168" cy="28397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Text Placeholder 4"/>
          <p:cNvSpPr>
            <a:spLocks noGrp="1"/>
          </p:cNvSpPr>
          <p:nvPr>
            <p:ph type="body" sz="quarter" idx="3"/>
          </p:nvPr>
        </p:nvSpPr>
        <p:spPr>
          <a:xfrm>
            <a:off x="4512721" y="2610999"/>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19" name="Text Placeholder 3"/>
          <p:cNvSpPr>
            <a:spLocks noGrp="1"/>
          </p:cNvSpPr>
          <p:nvPr>
            <p:ph type="body" sz="half" idx="16"/>
          </p:nvPr>
        </p:nvSpPr>
        <p:spPr>
          <a:xfrm>
            <a:off x="4512721" y="3187261"/>
            <a:ext cx="3145380" cy="28397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14" name="Text Placeholder 4"/>
          <p:cNvSpPr>
            <a:spLocks noGrp="1"/>
          </p:cNvSpPr>
          <p:nvPr>
            <p:ph type="body" sz="quarter" idx="13"/>
          </p:nvPr>
        </p:nvSpPr>
        <p:spPr>
          <a:xfrm>
            <a:off x="7886701" y="2603500"/>
            <a:ext cx="315744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20" name="Text Placeholder 3"/>
          <p:cNvSpPr>
            <a:spLocks noGrp="1"/>
          </p:cNvSpPr>
          <p:nvPr>
            <p:ph type="body" sz="half" idx="17"/>
          </p:nvPr>
        </p:nvSpPr>
        <p:spPr>
          <a:xfrm>
            <a:off x="7886700" y="3187261"/>
            <a:ext cx="3161029" cy="283979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cxnSp>
        <p:nvCxnSpPr>
          <p:cNvPr id="22" name="Straight Connector 21"/>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8BA9F5E-4C00-47F0-AAB4-64010DC8CB25}" type="datetimeFigureOut">
              <a:rPr lang="el-GR" smtClean="0"/>
              <a:t>6/6/2025</a:t>
            </a:fld>
            <a:endParaRPr lang="el-GR"/>
          </a:p>
        </p:txBody>
      </p:sp>
      <p:sp>
        <p:nvSpPr>
          <p:cNvPr id="8" name="Footer Placeholder 7"/>
          <p:cNvSpPr>
            <a:spLocks noGrp="1"/>
          </p:cNvSpPr>
          <p:nvPr>
            <p:ph type="ftr" sz="quarter" idx="11"/>
          </p:nvPr>
        </p:nvSpPr>
        <p:spPr/>
        <p:txBody>
          <a:bodyPr/>
          <a:lstStyle/>
          <a:p>
            <a:endParaRPr lang="el-GR"/>
          </a:p>
        </p:txBody>
      </p:sp>
      <p:sp>
        <p:nvSpPr>
          <p:cNvPr id="9" name="Slide Number Placeholder 8"/>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3405423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Στήλη 3 εικόνων">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600"/>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154954" y="4532844"/>
            <a:ext cx="3020744" cy="576263"/>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29" name="Picture Placeholder 2"/>
          <p:cNvSpPr>
            <a:spLocks noGrp="1" noChangeAspect="1"/>
          </p:cNvSpPr>
          <p:nvPr>
            <p:ph type="pic" idx="15"/>
          </p:nvPr>
        </p:nvSpPr>
        <p:spPr>
          <a:xfrm>
            <a:off x="1334552" y="2611246"/>
            <a:ext cx="2691242" cy="158376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l-GR"/>
              <a:t>Κάντε κλικ στο εικονίδιο για να προσθέσετε εικόνα</a:t>
            </a:r>
            <a:endParaRPr lang="en-US" dirty="0"/>
          </a:p>
        </p:txBody>
      </p:sp>
      <p:sp>
        <p:nvSpPr>
          <p:cNvPr id="22" name="Text Placeholder 3"/>
          <p:cNvSpPr>
            <a:spLocks noGrp="1"/>
          </p:cNvSpPr>
          <p:nvPr>
            <p:ph type="body" sz="half" idx="18"/>
          </p:nvPr>
        </p:nvSpPr>
        <p:spPr>
          <a:xfrm>
            <a:off x="1154953" y="5109107"/>
            <a:ext cx="3020745"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Text Placeholder 4"/>
          <p:cNvSpPr>
            <a:spLocks noGrp="1"/>
          </p:cNvSpPr>
          <p:nvPr>
            <p:ph type="body" sz="quarter" idx="3"/>
          </p:nvPr>
        </p:nvSpPr>
        <p:spPr>
          <a:xfrm>
            <a:off x="4568865"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30" name="Picture Placeholder 2"/>
          <p:cNvSpPr>
            <a:spLocks noGrp="1" noChangeAspect="1"/>
          </p:cNvSpPr>
          <p:nvPr>
            <p:ph type="pic" idx="21"/>
          </p:nvPr>
        </p:nvSpPr>
        <p:spPr>
          <a:xfrm>
            <a:off x="4748463" y="2642840"/>
            <a:ext cx="2691242" cy="155217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l-GR"/>
              <a:t>Κάντε κλικ στο εικονίδιο για να προσθέσετε εικόνα</a:t>
            </a:r>
            <a:endParaRPr lang="en-US" dirty="0"/>
          </a:p>
        </p:txBody>
      </p:sp>
      <p:sp>
        <p:nvSpPr>
          <p:cNvPr id="23" name="Text Placeholder 3"/>
          <p:cNvSpPr>
            <a:spLocks noGrp="1"/>
          </p:cNvSpPr>
          <p:nvPr>
            <p:ph type="body" sz="half" idx="19"/>
          </p:nvPr>
        </p:nvSpPr>
        <p:spPr>
          <a:xfrm>
            <a:off x="4568865" y="5109107"/>
            <a:ext cx="3050438" cy="92140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14" name="Text Placeholder 4"/>
          <p:cNvSpPr>
            <a:spLocks noGrp="1"/>
          </p:cNvSpPr>
          <p:nvPr>
            <p:ph type="body" sz="quarter" idx="13"/>
          </p:nvPr>
        </p:nvSpPr>
        <p:spPr>
          <a:xfrm>
            <a:off x="7983434"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31" name="Picture Placeholder 2"/>
          <p:cNvSpPr>
            <a:spLocks noGrp="1" noChangeAspect="1"/>
          </p:cNvSpPr>
          <p:nvPr>
            <p:ph type="pic" idx="22"/>
          </p:nvPr>
        </p:nvSpPr>
        <p:spPr>
          <a:xfrm>
            <a:off x="8163031" y="2618992"/>
            <a:ext cx="2691242" cy="1576018"/>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l-GR"/>
              <a:t>Κάντε κλικ στο εικονίδιο για να προσθέσετε εικόνα</a:t>
            </a:r>
            <a:endParaRPr lang="en-US" dirty="0"/>
          </a:p>
        </p:txBody>
      </p:sp>
      <p:sp>
        <p:nvSpPr>
          <p:cNvPr id="24" name="Text Placeholder 3"/>
          <p:cNvSpPr>
            <a:spLocks noGrp="1"/>
          </p:cNvSpPr>
          <p:nvPr>
            <p:ph type="body" sz="half" idx="20"/>
          </p:nvPr>
        </p:nvSpPr>
        <p:spPr>
          <a:xfrm>
            <a:off x="7983434" y="5109107"/>
            <a:ext cx="3054127" cy="89634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cxnSp>
        <p:nvCxnSpPr>
          <p:cNvPr id="21" name="Straight Connector 20"/>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8BA9F5E-4C00-47F0-AAB4-64010DC8CB25}" type="datetimeFigureOut">
              <a:rPr lang="el-GR" smtClean="0"/>
              <a:t>6/6/2025</a:t>
            </a:fld>
            <a:endParaRPr lang="el-GR"/>
          </a:p>
        </p:txBody>
      </p:sp>
      <p:sp>
        <p:nvSpPr>
          <p:cNvPr id="8" name="Footer Placeholder 7"/>
          <p:cNvSpPr>
            <a:spLocks noGrp="1"/>
          </p:cNvSpPr>
          <p:nvPr>
            <p:ph type="ftr" sz="quarter" idx="11"/>
          </p:nvPr>
        </p:nvSpPr>
        <p:spPr/>
        <p:txBody>
          <a:bodyPr/>
          <a:lstStyle/>
          <a:p>
            <a:endParaRPr lang="el-GR"/>
          </a:p>
        </p:txBody>
      </p:sp>
      <p:sp>
        <p:nvSpPr>
          <p:cNvPr id="9" name="Slide Number Placeholder 8"/>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1686199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08BA9F5E-4C00-47F0-AAB4-64010DC8CB25}" type="datetimeFigureOut">
              <a:rPr lang="el-GR" smtClean="0"/>
              <a:t>6/6/2025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39936261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Κατακόρυφος τίτλος και Κείμενο">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97430"/>
            <a:ext cx="1409965" cy="4729626"/>
          </a:xfrm>
        </p:spPr>
        <p:txBody>
          <a:bodyPr vert="eaVert" anchor="b" anchorCtr="0"/>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a:xfrm>
            <a:off x="1154954" y="1297429"/>
            <a:ext cx="6247546" cy="4729627"/>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08BA9F5E-4C00-47F0-AAB4-64010DC8CB25}" type="datetimeFigureOut">
              <a:rPr lang="el-GR" smtClean="0"/>
              <a:t>6/6/2025</a:t>
            </a:fld>
            <a:endParaRPr lang="el-GR"/>
          </a:p>
        </p:txBody>
      </p:sp>
      <p:sp>
        <p:nvSpPr>
          <p:cNvPr id="5" name="Footer Placeholder 4"/>
          <p:cNvSpPr>
            <a:spLocks noGrp="1"/>
          </p:cNvSpPr>
          <p:nvPr>
            <p:ph type="ftr" sz="quarter" idx="11"/>
          </p:nvPr>
        </p:nvSpPr>
        <p:spPr/>
        <p:txBody>
          <a:bodyPr/>
          <a:lstStyle/>
          <a:p>
            <a:endParaRPr lang="el-GR"/>
          </a:p>
        </p:txBody>
      </p:sp>
      <p:sp>
        <p:nvSpPr>
          <p:cNvPr id="18" name="Rectangle 17"/>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6C154E-DBEC-43DA-8E06-28F97975F99B}" type="slidenum">
              <a:rPr lang="el-GR" smtClean="0"/>
              <a:t>‹#›</a:t>
            </a:fld>
            <a:endParaRPr lang="el-GR"/>
          </a:p>
        </p:txBody>
      </p:sp>
    </p:spTree>
    <p:extLst>
      <p:ext uri="{BB962C8B-B14F-4D97-AF65-F5344CB8AC3E}">
        <p14:creationId xmlns:p14="http://schemas.microsoft.com/office/powerpoint/2010/main" val="3173354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5" name="Rectangle 14"/>
            <p:cNvSpPr/>
            <p:nvPr/>
          </p:nvSpPr>
          <p:spPr>
            <a:xfrm>
              <a:off x="0" y="0"/>
              <a:ext cx="12192000" cy="6858000"/>
            </a:xfrm>
            <a:prstGeom prst="rect">
              <a:avLst/>
            </a:prstGeom>
            <a:blipFill>
              <a:blip r:embed="rId19">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Oval 4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9" name="Oval 3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8" name="Oval 3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9" name="Oval 48"/>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47920"/>
            <a:ext cx="8761413" cy="728480"/>
          </a:xfrm>
          <a:prstGeom prst="rect">
            <a:avLst/>
          </a:prstGeom>
        </p:spPr>
        <p:txBody>
          <a:bodyPr vert="horz" lIns="91440" tIns="45720" rIns="91440" bIns="45720" rtlCol="0" anchor="ctr">
            <a:noAutofit/>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Footer Placeholder 4"/>
          <p:cNvSpPr>
            <a:spLocks noGrp="1"/>
          </p:cNvSpPr>
          <p:nvPr>
            <p:ph type="ftr" sz="quarter" idx="3"/>
          </p:nvPr>
        </p:nvSpPr>
        <p:spPr>
          <a:xfrm>
            <a:off x="561110" y="6391839"/>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l-GR"/>
          </a:p>
        </p:txBody>
      </p:sp>
      <p:sp>
        <p:nvSpPr>
          <p:cNvPr id="4" name="Date Placeholder 3"/>
          <p:cNvSpPr>
            <a:spLocks noGrp="1"/>
          </p:cNvSpPr>
          <p:nvPr>
            <p:ph type="dt" sz="half" idx="2"/>
          </p:nvPr>
        </p:nvSpPr>
        <p:spPr>
          <a:xfrm>
            <a:off x="10650938" y="6394407"/>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8BA9F5E-4C00-47F0-AAB4-64010DC8CB25}" type="datetimeFigureOut">
              <a:rPr lang="el-GR" smtClean="0"/>
              <a:t>6/6/2025</a:t>
            </a:fld>
            <a:endParaRPr lang="el-GR"/>
          </a:p>
        </p:txBody>
      </p:sp>
      <p:sp>
        <p:nvSpPr>
          <p:cNvPr id="20" name="Rectangle 19"/>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B6C154E-DBEC-43DA-8E06-28F97975F99B}" type="slidenum">
              <a:rPr lang="el-GR" smtClean="0"/>
              <a:t>‹#›</a:t>
            </a:fld>
            <a:endParaRPr lang="el-GR"/>
          </a:p>
        </p:txBody>
      </p:sp>
    </p:spTree>
    <p:extLst>
      <p:ext uri="{BB962C8B-B14F-4D97-AF65-F5344CB8AC3E}">
        <p14:creationId xmlns:p14="http://schemas.microsoft.com/office/powerpoint/2010/main" val="357709687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27CB9A4-961F-C2E6-29A3-889621442C59}"/>
              </a:ext>
            </a:extLst>
          </p:cNvPr>
          <p:cNvSpPr>
            <a:spLocks noGrp="1"/>
          </p:cNvSpPr>
          <p:nvPr>
            <p:ph type="ctrTitle"/>
          </p:nvPr>
        </p:nvSpPr>
        <p:spPr>
          <a:xfrm>
            <a:off x="1524000" y="1122362"/>
            <a:ext cx="9144000" cy="1407773"/>
          </a:xfrm>
        </p:spPr>
        <p:txBody>
          <a:bodyPr>
            <a:normAutofit fontScale="90000"/>
          </a:bodyPr>
          <a:lstStyle/>
          <a:p>
            <a:r>
              <a:rPr lang="el-GR" sz="3600" dirty="0"/>
              <a:t>Εργασία Αντικειμενοστραφή προγραμματισμού</a:t>
            </a:r>
            <a:br>
              <a:rPr lang="el-GR" sz="3600" dirty="0"/>
            </a:br>
            <a:r>
              <a:rPr lang="en-US" sz="3600" dirty="0"/>
              <a:t>Terminal Calculator &amp; Qt Calculator</a:t>
            </a:r>
            <a:endParaRPr lang="el-GR" sz="3600" dirty="0"/>
          </a:p>
        </p:txBody>
      </p:sp>
      <p:sp>
        <p:nvSpPr>
          <p:cNvPr id="3" name="Υπότιτλος 2">
            <a:extLst>
              <a:ext uri="{FF2B5EF4-FFF2-40B4-BE49-F238E27FC236}">
                <a16:creationId xmlns:a16="http://schemas.microsoft.com/office/drawing/2014/main" id="{532FE3A7-D631-6654-B3E3-02754E199BEE}"/>
              </a:ext>
            </a:extLst>
          </p:cNvPr>
          <p:cNvSpPr>
            <a:spLocks noGrp="1"/>
          </p:cNvSpPr>
          <p:nvPr>
            <p:ph type="subTitle" idx="1"/>
          </p:nvPr>
        </p:nvSpPr>
        <p:spPr>
          <a:xfrm>
            <a:off x="1524000" y="4607511"/>
            <a:ext cx="9144000" cy="898278"/>
          </a:xfrm>
        </p:spPr>
        <p:txBody>
          <a:bodyPr>
            <a:normAutofit/>
          </a:bodyPr>
          <a:lstStyle/>
          <a:p>
            <a:pPr algn="l"/>
            <a:r>
              <a:rPr lang="el-GR" sz="1600" dirty="0"/>
              <a:t>ΛΕΟΝΤΑΡΑΚΗΣ ΓΕΩΡΓΙΟΣ 20039</a:t>
            </a:r>
          </a:p>
        </p:txBody>
      </p:sp>
    </p:spTree>
    <p:extLst>
      <p:ext uri="{BB962C8B-B14F-4D97-AF65-F5344CB8AC3E}">
        <p14:creationId xmlns:p14="http://schemas.microsoft.com/office/powerpoint/2010/main" val="1261337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49006CF-FAD9-8C60-90BA-03A02112E390}"/>
              </a:ext>
            </a:extLst>
          </p:cNvPr>
          <p:cNvSpPr>
            <a:spLocks noGrp="1"/>
          </p:cNvSpPr>
          <p:nvPr>
            <p:ph type="title"/>
          </p:nvPr>
        </p:nvSpPr>
        <p:spPr>
          <a:xfrm>
            <a:off x="838200" y="365125"/>
            <a:ext cx="10515600" cy="833360"/>
          </a:xfrm>
        </p:spPr>
        <p:txBody>
          <a:bodyPr>
            <a:normAutofit/>
          </a:bodyPr>
          <a:lstStyle/>
          <a:p>
            <a:r>
              <a:rPr lang="el-GR" sz="2400" b="1" dirty="0"/>
              <a:t>Επιλογή </a:t>
            </a:r>
            <a:r>
              <a:rPr lang="en-US" sz="2400" b="1" dirty="0"/>
              <a:t>Project:</a:t>
            </a:r>
            <a:endParaRPr lang="el-GR" sz="2400" b="1" dirty="0"/>
          </a:p>
        </p:txBody>
      </p:sp>
      <p:sp>
        <p:nvSpPr>
          <p:cNvPr id="3" name="Θέση περιεχομένου 2">
            <a:extLst>
              <a:ext uri="{FF2B5EF4-FFF2-40B4-BE49-F238E27FC236}">
                <a16:creationId xmlns:a16="http://schemas.microsoft.com/office/drawing/2014/main" id="{7F41C09C-36E4-179A-16B1-44E4CCC0EBF7}"/>
              </a:ext>
            </a:extLst>
          </p:cNvPr>
          <p:cNvSpPr>
            <a:spLocks noGrp="1"/>
          </p:cNvSpPr>
          <p:nvPr>
            <p:ph idx="1"/>
          </p:nvPr>
        </p:nvSpPr>
        <p:spPr>
          <a:xfrm>
            <a:off x="935854" y="2388092"/>
            <a:ext cx="10515600" cy="4234649"/>
          </a:xfrm>
        </p:spPr>
        <p:txBody>
          <a:bodyPr>
            <a:normAutofit fontScale="85000" lnSpcReduction="20000"/>
          </a:bodyPr>
          <a:lstStyle/>
          <a:p>
            <a:r>
              <a:rPr lang="el-GR" sz="1600" dirty="0"/>
              <a:t>Το κομπιουτεράκι επιλέχθηκε ως </a:t>
            </a:r>
            <a:r>
              <a:rPr lang="el-GR" sz="1600" dirty="0" err="1"/>
              <a:t>project</a:t>
            </a:r>
            <a:r>
              <a:rPr lang="el-GR" sz="1600" dirty="0"/>
              <a:t> εξαιτίας μιας ατυχίας με το προηγούμενο </a:t>
            </a:r>
            <a:r>
              <a:rPr lang="el-GR" sz="1600" dirty="0" err="1"/>
              <a:t>project</a:t>
            </a:r>
            <a:r>
              <a:rPr lang="el-GR" sz="1600" dirty="0"/>
              <a:t>, η οποία οδήγησε στην ανάγκη να δημιουργηθεί κάτι νέο σε λίγο χρόνο. Παρ’ όλα αυτά, μέσα από αυτήν την ατυχία γεννήθηκε η ευκαιρία για μια νέα πρόκληση.</a:t>
            </a:r>
          </a:p>
          <a:p>
            <a:r>
              <a:rPr lang="el-GR" sz="1600" dirty="0"/>
              <a:t>Το κομπιουτεράκι αποτελεί ένα από τα πιο συνηθισμένα παραδείγματα προγράμματος για νέους προγραμματιστές, συνήθως σε πιο απλές μορφές από τα κομπιουτεράκια που βλέπουμε στους υπολογιστές ή τα φορητά κομπιουτεράκια χειρός. Αυτό έδωσε την ιδέα για ένα πρόγραμμα που φτάνει σε ένα ανώτερο επίπεδο αυτά τα —πολύ πιο χρήσιμα— κομπιουτεράκια, προσθέτοντας χαρακτηριστικά που είναι πολύ πιο φιλικά προς τον χρήστη.</a:t>
            </a:r>
          </a:p>
          <a:p>
            <a:r>
              <a:rPr lang="el-GR" sz="1600" dirty="0"/>
              <a:t>Το κομπιουτεράκι είναι ένα ιδιαίτερα χρήσιμο εργαλείο στην καθημερινότητα. Από χρήση στη δουλειά μέχρι τα χόμπι, είναι ένα εργαλείο που πάρα πολλοί άνθρωποι, είτε ασχολούνται με τα μαθηματικά είτε όχι, χρησιμοποιούν. Έτσι, το συγκεκριμένο πρόγραμμα λύνει σε μεγάλο βαθμό διάφορα καθημερινά προβλήματα. Ιδιαίτερα στον τομέα του προγραμματισμού, η ανάγκη για ένα κομπιουτεράκι που βρίσκεται στον υπολογιστή και είναι εύκολο στη χρήση είναι σημαντική.</a:t>
            </a:r>
          </a:p>
          <a:p>
            <a:r>
              <a:rPr lang="el-GR" sz="1600" dirty="0"/>
              <a:t>Το </a:t>
            </a:r>
            <a:r>
              <a:rPr lang="el-GR" sz="1600" dirty="0" err="1"/>
              <a:t>project</a:t>
            </a:r>
            <a:r>
              <a:rPr lang="el-GR" sz="1600" dirty="0"/>
              <a:t> συγκεκριμένα χωρίζεται σε δύο μέρη:</a:t>
            </a:r>
          </a:p>
          <a:p>
            <a:pPr lvl="1"/>
            <a:r>
              <a:rPr lang="el-GR" sz="1600" dirty="0"/>
              <a:t>Το κομπιουτεράκι που δημιουργήθηκε σε περιβάλλον </a:t>
            </a:r>
            <a:r>
              <a:rPr lang="el-GR" sz="1600" dirty="0" err="1"/>
              <a:t>Dev</a:t>
            </a:r>
            <a:r>
              <a:rPr lang="el-GR" sz="1600" dirty="0"/>
              <a:t>-C++ και λειτουργεί μέσω της γραμμής εντολών των Windows (Terminal </a:t>
            </a:r>
            <a:r>
              <a:rPr lang="el-GR" sz="1600" dirty="0" err="1"/>
              <a:t>Calculator</a:t>
            </a:r>
            <a:r>
              <a:rPr lang="el-GR" sz="1600" dirty="0"/>
              <a:t>), και</a:t>
            </a:r>
          </a:p>
          <a:p>
            <a:pPr lvl="1"/>
            <a:r>
              <a:rPr lang="el-GR" sz="1600" dirty="0"/>
              <a:t>Το κομπιουτεράκι που δημιουργήθηκε σε περιβάλλον </a:t>
            </a:r>
            <a:r>
              <a:rPr lang="el-GR" sz="1600" dirty="0" err="1"/>
              <a:t>Qt</a:t>
            </a:r>
            <a:r>
              <a:rPr lang="el-GR" sz="1600" dirty="0"/>
              <a:t> και λειτουργεί αυτόνομα σε παράθυρο των Windows, με εντελώς δικό του περιβάλλον χρήστη, κατασκευασμένο φυσικά μέσω των βιβλιοθηκών και λειτουργιών του </a:t>
            </a:r>
            <a:r>
              <a:rPr lang="el-GR" sz="1600" dirty="0" err="1"/>
              <a:t>Qt</a:t>
            </a:r>
            <a:r>
              <a:rPr lang="el-GR" sz="1600" dirty="0"/>
              <a:t> (</a:t>
            </a:r>
            <a:r>
              <a:rPr lang="el-GR" sz="1600" dirty="0" err="1"/>
              <a:t>Qt</a:t>
            </a:r>
            <a:r>
              <a:rPr lang="el-GR" sz="1600" dirty="0"/>
              <a:t> </a:t>
            </a:r>
            <a:r>
              <a:rPr lang="el-GR" sz="1600" dirty="0" err="1"/>
              <a:t>Calculator</a:t>
            </a:r>
            <a:r>
              <a:rPr lang="el-GR" sz="1600" dirty="0"/>
              <a:t>).</a:t>
            </a:r>
            <a:br>
              <a:rPr lang="el-GR" sz="1000" dirty="0"/>
            </a:br>
            <a:endParaRPr lang="el-GR" sz="1000" dirty="0"/>
          </a:p>
        </p:txBody>
      </p:sp>
    </p:spTree>
    <p:extLst>
      <p:ext uri="{BB962C8B-B14F-4D97-AF65-F5344CB8AC3E}">
        <p14:creationId xmlns:p14="http://schemas.microsoft.com/office/powerpoint/2010/main" val="1373846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E1F21AE-47C5-5CA2-7A92-974F43C32DDB}"/>
              </a:ext>
            </a:extLst>
          </p:cNvPr>
          <p:cNvSpPr>
            <a:spLocks noGrp="1"/>
          </p:cNvSpPr>
          <p:nvPr>
            <p:ph type="title"/>
          </p:nvPr>
        </p:nvSpPr>
        <p:spPr/>
        <p:txBody>
          <a:bodyPr/>
          <a:lstStyle/>
          <a:p>
            <a:r>
              <a:rPr lang="el-GR" sz="2000" dirty="0"/>
              <a:t>Στόχοι και Δυνατότητες</a:t>
            </a:r>
          </a:p>
        </p:txBody>
      </p:sp>
      <p:sp>
        <p:nvSpPr>
          <p:cNvPr id="3" name="Θέση περιεχομένου 2">
            <a:extLst>
              <a:ext uri="{FF2B5EF4-FFF2-40B4-BE49-F238E27FC236}">
                <a16:creationId xmlns:a16="http://schemas.microsoft.com/office/drawing/2014/main" id="{607C99AA-9C6B-EAB9-DE6A-ACF20AFEC8DA}"/>
              </a:ext>
            </a:extLst>
          </p:cNvPr>
          <p:cNvSpPr>
            <a:spLocks noGrp="1"/>
          </p:cNvSpPr>
          <p:nvPr>
            <p:ph idx="1"/>
          </p:nvPr>
        </p:nvSpPr>
        <p:spPr/>
        <p:txBody>
          <a:bodyPr/>
          <a:lstStyle/>
          <a:p>
            <a:r>
              <a:rPr lang="el-GR" dirty="0"/>
              <a:t>Στόχος από την πρώτη στιγμή ήταν η δημιουργία ενός προγράμματος με πολύ περισσότερες δυνατότητες από ένα συνηθισμένο κομπιουτεράκι φοιτητικού </a:t>
            </a:r>
            <a:r>
              <a:rPr lang="el-GR" dirty="0" err="1"/>
              <a:t>project</a:t>
            </a:r>
            <a:r>
              <a:rPr lang="el-GR" dirty="0"/>
              <a:t>, πιο κοντά σε αυτά που βλέπουμε στους υπολογιστές μας ή στα επιστημονικά κομπιουτεράκια που κρατάμε στα χέρια μας.</a:t>
            </a:r>
          </a:p>
          <a:p>
            <a:r>
              <a:rPr lang="el-GR" dirty="0"/>
              <a:t>Αυτό σήμαινε περισσότερες από τις τέσσερις συνηθισμένες πράξεις (+, −, ×, ÷), δυνατότητα εκτέλεσης πολλαπλών πράξεων με περισσότερους από δύο αριθμούς, καθώς και ιστορικό αποτελεσμάτων αλλά και πράξεων.</a:t>
            </a:r>
          </a:p>
        </p:txBody>
      </p:sp>
    </p:spTree>
    <p:extLst>
      <p:ext uri="{BB962C8B-B14F-4D97-AF65-F5344CB8AC3E}">
        <p14:creationId xmlns:p14="http://schemas.microsoft.com/office/powerpoint/2010/main" val="3101966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9B8FCA1-4334-C0BD-5A88-F7534B7303EB}"/>
              </a:ext>
            </a:extLst>
          </p:cNvPr>
          <p:cNvSpPr>
            <a:spLocks noGrp="1"/>
          </p:cNvSpPr>
          <p:nvPr>
            <p:ph type="title"/>
          </p:nvPr>
        </p:nvSpPr>
        <p:spPr/>
        <p:txBody>
          <a:bodyPr/>
          <a:lstStyle/>
          <a:p>
            <a:r>
              <a:rPr lang="el-GR" sz="2400" dirty="0"/>
              <a:t>Σύγκριση των δυο</a:t>
            </a:r>
            <a:r>
              <a:rPr lang="en-US" sz="2400" dirty="0"/>
              <a:t> Calculator</a:t>
            </a:r>
            <a:endParaRPr lang="el-GR" sz="2400" dirty="0"/>
          </a:p>
        </p:txBody>
      </p:sp>
      <p:sp>
        <p:nvSpPr>
          <p:cNvPr id="3" name="Θέση κειμένου 2">
            <a:extLst>
              <a:ext uri="{FF2B5EF4-FFF2-40B4-BE49-F238E27FC236}">
                <a16:creationId xmlns:a16="http://schemas.microsoft.com/office/drawing/2014/main" id="{FFB75CB4-D85D-8825-A623-233B42F33E00}"/>
              </a:ext>
            </a:extLst>
          </p:cNvPr>
          <p:cNvSpPr>
            <a:spLocks noGrp="1"/>
          </p:cNvSpPr>
          <p:nvPr>
            <p:ph type="body" idx="1"/>
          </p:nvPr>
        </p:nvSpPr>
        <p:spPr/>
        <p:txBody>
          <a:bodyPr/>
          <a:lstStyle/>
          <a:p>
            <a:r>
              <a:rPr lang="en-US" dirty="0"/>
              <a:t>Terminal Calculator</a:t>
            </a:r>
            <a:endParaRPr lang="el-GR" dirty="0"/>
          </a:p>
        </p:txBody>
      </p:sp>
      <p:sp>
        <p:nvSpPr>
          <p:cNvPr id="4" name="Θέση περιεχομένου 3">
            <a:extLst>
              <a:ext uri="{FF2B5EF4-FFF2-40B4-BE49-F238E27FC236}">
                <a16:creationId xmlns:a16="http://schemas.microsoft.com/office/drawing/2014/main" id="{0DB92EC1-3DAF-F4D2-D77F-EB490054183E}"/>
              </a:ext>
            </a:extLst>
          </p:cNvPr>
          <p:cNvSpPr>
            <a:spLocks noGrp="1"/>
          </p:cNvSpPr>
          <p:nvPr>
            <p:ph sz="half" idx="2"/>
          </p:nvPr>
        </p:nvSpPr>
        <p:spPr>
          <a:xfrm>
            <a:off x="1154954" y="3212326"/>
            <a:ext cx="4825158" cy="3348272"/>
          </a:xfrm>
        </p:spPr>
        <p:txBody>
          <a:bodyPr>
            <a:normAutofit fontScale="92500" lnSpcReduction="10000"/>
          </a:bodyPr>
          <a:lstStyle/>
          <a:p>
            <a:r>
              <a:rPr lang="el-GR" sz="1400" dirty="0"/>
              <a:t>Στο </a:t>
            </a:r>
            <a:r>
              <a:rPr lang="el-GR" sz="1400" b="1" dirty="0"/>
              <a:t>Terminal </a:t>
            </a:r>
            <a:r>
              <a:rPr lang="el-GR" sz="1400" b="1" dirty="0" err="1"/>
              <a:t>Calculator</a:t>
            </a:r>
            <a:r>
              <a:rPr lang="el-GR" sz="1400" dirty="0"/>
              <a:t> καταφέραμε να προσθέσουμε πράγματι περισσότερες λειτουργίες, πέρα από τις βασικές πράξεις (+, −, ×, ÷), όπως:</a:t>
            </a:r>
          </a:p>
          <a:p>
            <a:pPr lvl="1"/>
            <a:r>
              <a:rPr lang="el-GR" sz="1200" dirty="0"/>
              <a:t>Τετραγωνισμός (x²), δύναμη (</a:t>
            </a:r>
            <a:r>
              <a:rPr lang="el-GR" sz="1200" dirty="0" err="1"/>
              <a:t>x^y</a:t>
            </a:r>
            <a:r>
              <a:rPr lang="el-GR" sz="1200" dirty="0"/>
              <a:t>), ρίζα (r, </a:t>
            </a:r>
            <a:r>
              <a:rPr lang="el-GR" sz="1200" dirty="0" err="1"/>
              <a:t>root</a:t>
            </a:r>
            <a:r>
              <a:rPr lang="el-GR" sz="1200" dirty="0"/>
              <a:t>),</a:t>
            </a:r>
          </a:p>
          <a:p>
            <a:pPr lvl="1"/>
            <a:r>
              <a:rPr lang="el-GR" sz="1200" dirty="0"/>
              <a:t>Τριγωνομετρικές συναρτήσεις (</a:t>
            </a:r>
            <a:r>
              <a:rPr lang="el-GR" sz="1200" dirty="0" err="1"/>
              <a:t>sin</a:t>
            </a:r>
            <a:r>
              <a:rPr lang="el-GR" sz="1200" dirty="0"/>
              <a:t>, sin⁻¹, </a:t>
            </a:r>
            <a:r>
              <a:rPr lang="el-GR" sz="1200" dirty="0" err="1"/>
              <a:t>cos</a:t>
            </a:r>
            <a:r>
              <a:rPr lang="el-GR" sz="1200" dirty="0"/>
              <a:t>, cos⁻¹, </a:t>
            </a:r>
            <a:r>
              <a:rPr lang="el-GR" sz="1200" dirty="0" err="1"/>
              <a:t>tan</a:t>
            </a:r>
            <a:r>
              <a:rPr lang="el-GR" sz="1200" dirty="0"/>
              <a:t>),</a:t>
            </a:r>
          </a:p>
          <a:p>
            <a:pPr lvl="1"/>
            <a:r>
              <a:rPr lang="el-GR" sz="1200" dirty="0"/>
              <a:t>Λογαριθμικές συναρτήσεις (</a:t>
            </a:r>
            <a:r>
              <a:rPr lang="el-GR" sz="1200" dirty="0" err="1"/>
              <a:t>ln</a:t>
            </a:r>
            <a:r>
              <a:rPr lang="el-GR" sz="1200" dirty="0"/>
              <a:t>, </a:t>
            </a:r>
            <a:r>
              <a:rPr lang="el-GR" sz="1200" dirty="0" err="1"/>
              <a:t>log</a:t>
            </a:r>
            <a:r>
              <a:rPr lang="el-GR" sz="1200" dirty="0"/>
              <a:t>).</a:t>
            </a:r>
          </a:p>
          <a:p>
            <a:r>
              <a:rPr lang="el-GR" sz="1400" dirty="0"/>
              <a:t>Επιπλέον, υλοποιήθηκε:</a:t>
            </a:r>
          </a:p>
          <a:p>
            <a:pPr lvl="1"/>
            <a:r>
              <a:rPr lang="el-GR" sz="1200" dirty="0"/>
              <a:t>Η αποθήκευση αποτελεσμάτων και πράξεων,</a:t>
            </a:r>
          </a:p>
          <a:p>
            <a:pPr lvl="1"/>
            <a:r>
              <a:rPr lang="el-GR" sz="1200" dirty="0"/>
              <a:t>Η δυνατότητα χρήσης προηγούμενων αποτελεσμάτων για νέες πράξεις,</a:t>
            </a:r>
          </a:p>
          <a:p>
            <a:pPr lvl="1"/>
            <a:r>
              <a:rPr lang="el-GR" sz="1200" dirty="0"/>
              <a:t>Η συνεχής χρήση του προγράμματος χωρίς να απαιτείται άνοιγμα και κλείσιμο κάθε φορά,</a:t>
            </a:r>
          </a:p>
          <a:p>
            <a:pPr lvl="1"/>
            <a:r>
              <a:rPr lang="el-GR" sz="1200" dirty="0"/>
              <a:t>Ένα HUD για πιο ευχάριστη εμφάνιση και ευκολότερη χρήση από τον χρήστη.</a:t>
            </a:r>
          </a:p>
        </p:txBody>
      </p:sp>
      <p:sp>
        <p:nvSpPr>
          <p:cNvPr id="5" name="Θέση κειμένου 4">
            <a:extLst>
              <a:ext uri="{FF2B5EF4-FFF2-40B4-BE49-F238E27FC236}">
                <a16:creationId xmlns:a16="http://schemas.microsoft.com/office/drawing/2014/main" id="{3FB42E50-632B-2C91-3347-66A2317F98F5}"/>
              </a:ext>
            </a:extLst>
          </p:cNvPr>
          <p:cNvSpPr>
            <a:spLocks noGrp="1"/>
          </p:cNvSpPr>
          <p:nvPr>
            <p:ph type="body" sz="quarter" idx="3"/>
          </p:nvPr>
        </p:nvSpPr>
        <p:spPr/>
        <p:txBody>
          <a:bodyPr/>
          <a:lstStyle/>
          <a:p>
            <a:r>
              <a:rPr lang="en-US" dirty="0"/>
              <a:t>Qt Calculator</a:t>
            </a:r>
            <a:endParaRPr lang="el-GR" dirty="0"/>
          </a:p>
        </p:txBody>
      </p:sp>
      <p:sp>
        <p:nvSpPr>
          <p:cNvPr id="6" name="Θέση περιεχομένου 5">
            <a:extLst>
              <a:ext uri="{FF2B5EF4-FFF2-40B4-BE49-F238E27FC236}">
                <a16:creationId xmlns:a16="http://schemas.microsoft.com/office/drawing/2014/main" id="{DCAA884D-8302-C299-5CC3-4EDB663B192D}"/>
              </a:ext>
            </a:extLst>
          </p:cNvPr>
          <p:cNvSpPr>
            <a:spLocks noGrp="1"/>
          </p:cNvSpPr>
          <p:nvPr>
            <p:ph sz="quarter" idx="4"/>
          </p:nvPr>
        </p:nvSpPr>
        <p:spPr>
          <a:xfrm>
            <a:off x="6208711" y="3212324"/>
            <a:ext cx="4825159" cy="3348274"/>
          </a:xfrm>
        </p:spPr>
        <p:txBody>
          <a:bodyPr>
            <a:normAutofit fontScale="92500" lnSpcReduction="10000"/>
          </a:bodyPr>
          <a:lstStyle/>
          <a:p>
            <a:r>
              <a:rPr lang="el-GR" sz="1400" dirty="0"/>
              <a:t>Στο </a:t>
            </a:r>
            <a:r>
              <a:rPr lang="el-GR" sz="1400" b="1" dirty="0" err="1"/>
              <a:t>Qt</a:t>
            </a:r>
            <a:r>
              <a:rPr lang="el-GR" sz="1400" b="1" dirty="0"/>
              <a:t> </a:t>
            </a:r>
            <a:r>
              <a:rPr lang="el-GR" sz="1400" b="1" dirty="0" err="1"/>
              <a:t>Calculator</a:t>
            </a:r>
            <a:r>
              <a:rPr lang="el-GR" sz="1400" dirty="0"/>
              <a:t>, δυστυχώς, έπρεπε να αφαιρεθούν ορισμένες πράξεις, ωστόσο παραμένουν διαθέσιμες αρκετές λειτουργίες, όπως:</a:t>
            </a:r>
            <a:br>
              <a:rPr lang="el-GR" sz="1400" dirty="0"/>
            </a:br>
            <a:r>
              <a:rPr lang="el-GR" sz="1400" dirty="0"/>
              <a:t>(+, −, ×, ÷, ^,</a:t>
            </a:r>
            <a:r>
              <a:rPr lang="el-GR" sz="1400" dirty="0" err="1"/>
              <a:t>root</a:t>
            </a:r>
            <a:r>
              <a:rPr lang="el-GR" sz="1400" dirty="0"/>
              <a:t>, </a:t>
            </a:r>
            <a:r>
              <a:rPr lang="el-GR" sz="1400" dirty="0" err="1"/>
              <a:t>cos</a:t>
            </a:r>
            <a:r>
              <a:rPr lang="el-GR" sz="1400" dirty="0"/>
              <a:t>, </a:t>
            </a:r>
            <a:r>
              <a:rPr lang="el-GR" sz="1400" dirty="0" err="1"/>
              <a:t>sin</a:t>
            </a:r>
            <a:r>
              <a:rPr lang="el-GR" sz="1400" dirty="0"/>
              <a:t>, </a:t>
            </a:r>
            <a:r>
              <a:rPr lang="el-GR" sz="1400" dirty="0" err="1"/>
              <a:t>tan</a:t>
            </a:r>
            <a:r>
              <a:rPr lang="el-GR" sz="1400" dirty="0"/>
              <a:t>, cos⁻¹, sin⁻¹).</a:t>
            </a:r>
          </a:p>
          <a:p>
            <a:r>
              <a:rPr lang="el-GR" sz="1400" dirty="0"/>
              <a:t>Επιπλέον, το πρόγραμμα διαθέτει πολύ καλύτερο περιβάλλον χρήστη (</a:t>
            </a:r>
            <a:r>
              <a:rPr lang="el-GR" sz="1400" dirty="0" err="1"/>
              <a:t>interface</a:t>
            </a:r>
            <a:r>
              <a:rPr lang="el-GR" sz="1400" dirty="0"/>
              <a:t>) με κουμπιά, προσφέροντας πιο ευχάριστη και άμεση αλληλεπίδραση.</a:t>
            </a:r>
          </a:p>
          <a:p>
            <a:r>
              <a:rPr lang="el-GR" sz="1400" dirty="0"/>
              <a:t>Υπάρχει ξεχωριστό παράθυρο για την αποθήκευση πράξεων και αποτελεσμάτων, καθώς και ειδικό κουμπί για τον καθαρισμό αυτών.</a:t>
            </a:r>
          </a:p>
          <a:p>
            <a:r>
              <a:rPr lang="el-GR" sz="1400" dirty="0"/>
              <a:t>Γενικά, το περιβάλλον είναι πιο καθαρό, ευχάριστο και εύκολο στη χρήση.</a:t>
            </a:r>
          </a:p>
        </p:txBody>
      </p:sp>
    </p:spTree>
    <p:extLst>
      <p:ext uri="{BB962C8B-B14F-4D97-AF65-F5344CB8AC3E}">
        <p14:creationId xmlns:p14="http://schemas.microsoft.com/office/powerpoint/2010/main" val="282933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2D6DD1C-61F3-6213-0631-1BB0D95E67B4}"/>
              </a:ext>
            </a:extLst>
          </p:cNvPr>
          <p:cNvSpPr>
            <a:spLocks noGrp="1"/>
          </p:cNvSpPr>
          <p:nvPr>
            <p:ph type="title"/>
          </p:nvPr>
        </p:nvSpPr>
        <p:spPr>
          <a:xfrm>
            <a:off x="1154954" y="1295400"/>
            <a:ext cx="2793158" cy="959528"/>
          </a:xfrm>
        </p:spPr>
        <p:txBody>
          <a:bodyPr/>
          <a:lstStyle/>
          <a:p>
            <a:r>
              <a:rPr lang="en-US" dirty="0"/>
              <a:t>Terminal Calculator</a:t>
            </a:r>
            <a:endParaRPr lang="el-GR" dirty="0"/>
          </a:p>
        </p:txBody>
      </p:sp>
      <p:sp>
        <p:nvSpPr>
          <p:cNvPr id="4" name="Θέση κειμένου 3">
            <a:extLst>
              <a:ext uri="{FF2B5EF4-FFF2-40B4-BE49-F238E27FC236}">
                <a16:creationId xmlns:a16="http://schemas.microsoft.com/office/drawing/2014/main" id="{C866EBE0-E3F4-EF5E-B089-66AC024BDEB9}"/>
              </a:ext>
            </a:extLst>
          </p:cNvPr>
          <p:cNvSpPr>
            <a:spLocks noGrp="1"/>
          </p:cNvSpPr>
          <p:nvPr>
            <p:ph type="body" sz="half" idx="2"/>
          </p:nvPr>
        </p:nvSpPr>
        <p:spPr/>
        <p:txBody>
          <a:bodyPr/>
          <a:lstStyle/>
          <a:p>
            <a:pPr marL="285750" indent="-285750">
              <a:buFont typeface="Arial" panose="020B0604020202020204" pitchFamily="34" charset="0"/>
              <a:buChar char="•"/>
            </a:pPr>
            <a:r>
              <a:rPr lang="el-GR" dirty="0"/>
              <a:t>Λειτουργικότητα συστήματος</a:t>
            </a:r>
          </a:p>
          <a:p>
            <a:pPr marL="285750" indent="-285750">
              <a:buFont typeface="Arial" panose="020B0604020202020204" pitchFamily="34" charset="0"/>
              <a:buChar char="•"/>
            </a:pPr>
            <a:r>
              <a:rPr lang="el-GR" dirty="0"/>
              <a:t>Τεχνολογίες που χρησιμοποιήθηκαν.</a:t>
            </a:r>
          </a:p>
          <a:p>
            <a:pPr marL="285750" indent="-285750">
              <a:buFont typeface="Arial" panose="020B0604020202020204" pitchFamily="34" charset="0"/>
              <a:buChar char="•"/>
            </a:pPr>
            <a:endParaRPr lang="el-GR" dirty="0"/>
          </a:p>
        </p:txBody>
      </p:sp>
      <p:sp>
        <p:nvSpPr>
          <p:cNvPr id="7" name="Rectangle 3">
            <a:extLst>
              <a:ext uri="{FF2B5EF4-FFF2-40B4-BE49-F238E27FC236}">
                <a16:creationId xmlns:a16="http://schemas.microsoft.com/office/drawing/2014/main" id="{C159FEBA-9EA8-435C-0556-37492F6C8D80}"/>
              </a:ext>
            </a:extLst>
          </p:cNvPr>
          <p:cNvSpPr>
            <a:spLocks noGrp="1" noChangeArrowheads="1"/>
          </p:cNvSpPr>
          <p:nvPr>
            <p:ph idx="1"/>
          </p:nvPr>
        </p:nvSpPr>
        <p:spPr bwMode="auto">
          <a:xfrm>
            <a:off x="6027251" y="924083"/>
            <a:ext cx="5667600" cy="5401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l-GR" sz="1600" b="1" i="1" dirty="0"/>
              <a:t>Το Terminal </a:t>
            </a:r>
            <a:r>
              <a:rPr lang="el-GR" sz="1600" b="1" i="1" dirty="0" err="1"/>
              <a:t>Calculator</a:t>
            </a:r>
            <a:r>
              <a:rPr lang="el-GR" sz="1600" b="1" i="1" dirty="0"/>
              <a:t> αποτελείται βασικά από δυο κύρια κομμάτια στον κώδικά του</a:t>
            </a:r>
            <a:r>
              <a:rPr lang="en-US" sz="1600" b="1" i="1" dirty="0"/>
              <a:t>:</a:t>
            </a:r>
            <a:endParaRPr lang="el-GR" sz="1600" b="1" i="1" dirty="0"/>
          </a:p>
          <a:p>
            <a:pPr lvl="1">
              <a:buFont typeface="+mj-lt"/>
              <a:buAutoNum type="arabicPeriod"/>
            </a:pPr>
            <a:r>
              <a:rPr lang="el-GR" sz="1200" dirty="0"/>
              <a:t>Το πρώτο κομμάτι περιλαμβάνει τις διάφορες εντολές που δημιουργούν την εμφάνιση, όπως η δημιουργία του HUD και του τίτλου, καθώς και η εμφάνιση των διαφόρων κειμένων, όπως αυτών που σχετίζονται με την αποθήκευση αποτελεσμάτων και πράξεων.</a:t>
            </a:r>
            <a:r>
              <a:rPr lang="en-US" sz="1200" dirty="0"/>
              <a:t> </a:t>
            </a:r>
            <a:r>
              <a:rPr lang="el-GR" sz="1200" dirty="0"/>
              <a:t>Μέσα σε αυτό το τμήμα του προγράμματος περιλαμβάνονται επίσης οι εντολές που αποθηκεύουν σε </a:t>
            </a:r>
            <a:r>
              <a:rPr lang="el-GR" sz="1200" dirty="0" err="1"/>
              <a:t>vector</a:t>
            </a:r>
            <a:r>
              <a:rPr lang="el-GR" sz="1200" dirty="0"/>
              <a:t> τα αποτελέσματα και τις πράξεις, καθώς και οι εντολές που δημιουργούν τα κουμπιά εμφάνισης, τα οποία δείχνουν στον χρήστη τι μπορεί να χρησιμοποιήσει στο κομπιουτεράκι. Επίσης συμπεριλαμβάνει τις εντολές για την χρήση των σταθερών αριθμών όπως το e και το π (</a:t>
            </a:r>
            <a:r>
              <a:rPr lang="el-GR" sz="1200" dirty="0" err="1"/>
              <a:t>pi</a:t>
            </a:r>
            <a:r>
              <a:rPr lang="el-GR" sz="1200" dirty="0"/>
              <a:t>),τα διάφορα </a:t>
            </a:r>
            <a:r>
              <a:rPr lang="el-GR" sz="1200" dirty="0" err="1"/>
              <a:t>failsafes</a:t>
            </a:r>
            <a:r>
              <a:rPr lang="el-GR" sz="1200" dirty="0"/>
              <a:t> για την αποφυγή λαθών στη μαθηματική λογική (όπως η περίπτωση διαίρεσης με το μηδέν, δηλαδή x/0), καθώς και τη δυνατότητα χρήσης προηγούμενων αποτελεσμάτων με τη μορφή </a:t>
            </a:r>
            <a:r>
              <a:rPr lang="el-GR" sz="1200" b="1" dirty="0"/>
              <a:t>#n</a:t>
            </a:r>
            <a:r>
              <a:rPr lang="el-GR" sz="1200" dirty="0"/>
              <a:t>, όπου </a:t>
            </a:r>
            <a:r>
              <a:rPr lang="el-GR" sz="1200" b="1" dirty="0"/>
              <a:t>n</a:t>
            </a:r>
            <a:r>
              <a:rPr lang="el-GR" sz="1200" dirty="0"/>
              <a:t> είναι ο αριθμός σειράς του αποτελέσματος.</a:t>
            </a:r>
          </a:p>
          <a:p>
            <a:pPr lvl="1">
              <a:buFont typeface="+mj-lt"/>
              <a:buAutoNum type="arabicPeriod"/>
            </a:pPr>
            <a:r>
              <a:rPr lang="el-GR" sz="1200" dirty="0"/>
              <a:t>Το δεύτερο κομμάτι αποτελείται από τη συνάρτηση </a:t>
            </a:r>
            <a:r>
              <a:rPr lang="el-GR" sz="1200" dirty="0" err="1"/>
              <a:t>main</a:t>
            </a:r>
            <a:r>
              <a:rPr lang="el-GR" sz="1200" dirty="0"/>
              <a:t>, μέσα στην οποία πραγματοποιούνται οι περισσότερες πράξεις. Σε αυτό το σημείο καλούνται οι προηγούμενες εντολές τη κατάλληλη στιγμή, ώστε το πρόγραμμα να λειτουργεί σωστά, ενώ τα αποτελέσματα αποθηκεύονται στο </a:t>
            </a:r>
            <a:r>
              <a:rPr lang="el-GR" sz="1200" dirty="0" err="1"/>
              <a:t>vector</a:t>
            </a:r>
            <a:r>
              <a:rPr lang="el-GR" sz="1200" dirty="0"/>
              <a:t>. Ένα μεγάλο μέρος της </a:t>
            </a:r>
            <a:r>
              <a:rPr lang="el-GR" sz="1200" dirty="0" err="1"/>
              <a:t>main</a:t>
            </a:r>
            <a:r>
              <a:rPr lang="el-GR" sz="1200" dirty="0"/>
              <a:t> βρίσκεται μέσα σε μία δομή </a:t>
            </a:r>
            <a:r>
              <a:rPr lang="el-GR" sz="1200" dirty="0" err="1"/>
              <a:t>do-while</a:t>
            </a:r>
            <a:r>
              <a:rPr lang="el-GR" sz="1200" dirty="0"/>
              <a:t>, η οποία επιτρέπει την επανάληψη του προγράμματος, αν ο χρήστης το επιθυμεί.</a:t>
            </a:r>
          </a:p>
          <a:p>
            <a:pPr lvl="1">
              <a:buFont typeface="+mj-lt"/>
              <a:buAutoNum type="arabicPeriod"/>
            </a:pPr>
            <a:endParaRPr lang="el-GR" sz="1200" dirty="0"/>
          </a:p>
        </p:txBody>
      </p:sp>
    </p:spTree>
    <p:extLst>
      <p:ext uri="{BB962C8B-B14F-4D97-AF65-F5344CB8AC3E}">
        <p14:creationId xmlns:p14="http://schemas.microsoft.com/office/powerpoint/2010/main" val="104862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2CE2A028-C13E-EB27-66ED-AE4C175C276B}"/>
              </a:ext>
            </a:extLst>
          </p:cNvPr>
          <p:cNvSpPr>
            <a:spLocks noGrp="1"/>
          </p:cNvSpPr>
          <p:nvPr>
            <p:ph idx="1"/>
          </p:nvPr>
        </p:nvSpPr>
        <p:spPr/>
        <p:txBody>
          <a:bodyPr>
            <a:normAutofit/>
          </a:bodyPr>
          <a:lstStyle/>
          <a:p>
            <a:pPr marL="0" indent="0">
              <a:buNone/>
            </a:pPr>
            <a:r>
              <a:rPr lang="el-GR" sz="1200" dirty="0"/>
              <a:t>Στο πρόγραμμα χρησιμοποιήθηκαν οι παρακάτω βιβλιοθήκες</a:t>
            </a:r>
            <a:r>
              <a:rPr lang="en-US" sz="1200" dirty="0"/>
              <a:t>:</a:t>
            </a:r>
          </a:p>
          <a:p>
            <a:pPr lvl="1"/>
            <a:r>
              <a:rPr lang="en-US" sz="1000" dirty="0"/>
              <a:t>#include &lt;iostream&gt; :</a:t>
            </a:r>
            <a:r>
              <a:rPr lang="el-GR" sz="1000" dirty="0"/>
              <a:t>Παρέχει τις βασικές λειτουργίες εισόδου και εξόδου. Χρησιμοποιείται για ανάγνωση από το πληκτρολόγιο και εκτύπωση στην οθόνη.</a:t>
            </a:r>
            <a:endParaRPr lang="en-US" sz="1000" dirty="0"/>
          </a:p>
          <a:p>
            <a:pPr lvl="1"/>
            <a:r>
              <a:rPr lang="en-US" sz="1000" dirty="0"/>
              <a:t>#include &lt;vector&gt;</a:t>
            </a:r>
            <a:r>
              <a:rPr lang="el-GR" sz="1000" dirty="0"/>
              <a:t> </a:t>
            </a:r>
            <a:r>
              <a:rPr lang="en-US" sz="1000" dirty="0"/>
              <a:t>:</a:t>
            </a:r>
            <a:r>
              <a:rPr lang="el-GR" sz="1000" dirty="0"/>
              <a:t>Δυναμικός πίνακα που μπορεί να αλλάζει μέγεθος κατά τη διάρκεια εκτέλεσης.</a:t>
            </a:r>
            <a:endParaRPr lang="en-US" sz="1000" dirty="0"/>
          </a:p>
          <a:p>
            <a:pPr lvl="1"/>
            <a:r>
              <a:rPr lang="en-US" sz="1000" dirty="0"/>
              <a:t>#include &lt;string&gt; :</a:t>
            </a:r>
            <a:r>
              <a:rPr lang="el-GR" sz="1000" dirty="0"/>
              <a:t> Χειρίζεται συμβολοσειρών (κείμενα) με εύχρηστες μεθόδους.</a:t>
            </a:r>
            <a:endParaRPr lang="en-US" sz="1000" dirty="0"/>
          </a:p>
          <a:p>
            <a:pPr lvl="1"/>
            <a:r>
              <a:rPr lang="en-US" sz="1000" dirty="0"/>
              <a:t>#include &lt;</a:t>
            </a:r>
            <a:r>
              <a:rPr lang="en-US" sz="1000" dirty="0" err="1"/>
              <a:t>sstream</a:t>
            </a:r>
            <a:r>
              <a:rPr lang="en-US" sz="1000" dirty="0"/>
              <a:t>&gt;</a:t>
            </a:r>
            <a:r>
              <a:rPr lang="el-GR" sz="1000" dirty="0"/>
              <a:t> </a:t>
            </a:r>
            <a:r>
              <a:rPr lang="en-US" sz="1000" dirty="0"/>
              <a:t>: </a:t>
            </a:r>
            <a:r>
              <a:rPr lang="el-GR" sz="1000" dirty="0"/>
              <a:t>Χρησιμοποιείται για εύκολη μετατροπή μεταξύ συμβολοσειρών και άλλων τύπων ή για επεξεργασία κειμένου.</a:t>
            </a:r>
            <a:endParaRPr lang="en-US" sz="1000" dirty="0"/>
          </a:p>
          <a:p>
            <a:pPr lvl="1"/>
            <a:r>
              <a:rPr lang="en-US" sz="1000" dirty="0"/>
              <a:t>#include &lt;</a:t>
            </a:r>
            <a:r>
              <a:rPr lang="en-US" sz="1000" dirty="0" err="1"/>
              <a:t>iomanip</a:t>
            </a:r>
            <a:r>
              <a:rPr lang="en-US" sz="1000" dirty="0"/>
              <a:t>&gt; : </a:t>
            </a:r>
            <a:r>
              <a:rPr lang="el-GR" sz="1000" dirty="0"/>
              <a:t>Παρέχει λειτουργίες μορφοποίησης εισόδου/εξόδου, για έλεγχο του πώς εμφανίζονται οι αριθμοί ή τα κείμενα.</a:t>
            </a:r>
            <a:endParaRPr lang="en-US" sz="1000" dirty="0"/>
          </a:p>
          <a:p>
            <a:pPr lvl="1"/>
            <a:r>
              <a:rPr lang="en-US" sz="1000" dirty="0"/>
              <a:t>#include &lt;limits&gt; : </a:t>
            </a:r>
            <a:r>
              <a:rPr lang="el-GR" sz="1000" dirty="0"/>
              <a:t>Παρέχει σταθερές και συναρτήσεις για τα όρια των αριθμητικών τύπων</a:t>
            </a:r>
            <a:endParaRPr lang="en-US" sz="1000" dirty="0"/>
          </a:p>
          <a:p>
            <a:pPr lvl="1"/>
            <a:r>
              <a:rPr lang="en-US" sz="1000" dirty="0"/>
              <a:t>#include &lt;</a:t>
            </a:r>
            <a:r>
              <a:rPr lang="en-US" sz="1000" dirty="0" err="1"/>
              <a:t>cmath</a:t>
            </a:r>
            <a:r>
              <a:rPr lang="en-US" sz="1000" dirty="0"/>
              <a:t>&gt; : </a:t>
            </a:r>
            <a:r>
              <a:rPr lang="el-GR" sz="1000" dirty="0"/>
              <a:t>Παρέχει μαθηματικές συναρτήσεις</a:t>
            </a:r>
            <a:endParaRPr lang="en-US" sz="1000" dirty="0"/>
          </a:p>
          <a:p>
            <a:pPr lvl="1"/>
            <a:r>
              <a:rPr lang="en-US" sz="1000" dirty="0"/>
              <a:t>#include &lt;</a:t>
            </a:r>
            <a:r>
              <a:rPr lang="en-US" sz="1000" dirty="0" err="1"/>
              <a:t>cctype</a:t>
            </a:r>
            <a:r>
              <a:rPr lang="en-US" sz="1000" dirty="0"/>
              <a:t>&gt; : </a:t>
            </a:r>
            <a:r>
              <a:rPr lang="el-GR" sz="1000" dirty="0"/>
              <a:t>Παρέχει συναρτήσεις για έλεγχο και μετατροπή χαρακτήρων</a:t>
            </a:r>
            <a:endParaRPr lang="en-US" sz="1000" dirty="0"/>
          </a:p>
          <a:p>
            <a:pPr lvl="1"/>
            <a:r>
              <a:rPr lang="en-US" sz="1000" dirty="0"/>
              <a:t>#include &lt;utility&gt; : </a:t>
            </a:r>
            <a:r>
              <a:rPr lang="el-GR" sz="1000" dirty="0"/>
              <a:t>Παρέχει βοηθητικές δομές</a:t>
            </a:r>
          </a:p>
        </p:txBody>
      </p:sp>
    </p:spTree>
    <p:extLst>
      <p:ext uri="{BB962C8B-B14F-4D97-AF65-F5344CB8AC3E}">
        <p14:creationId xmlns:p14="http://schemas.microsoft.com/office/powerpoint/2010/main" val="3721885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0854A9C-72F8-6D87-0EE1-526F7435481C}"/>
              </a:ext>
            </a:extLst>
          </p:cNvPr>
          <p:cNvSpPr>
            <a:spLocks noGrp="1"/>
          </p:cNvSpPr>
          <p:nvPr>
            <p:ph type="title"/>
          </p:nvPr>
        </p:nvSpPr>
        <p:spPr/>
        <p:txBody>
          <a:bodyPr/>
          <a:lstStyle/>
          <a:p>
            <a:r>
              <a:rPr lang="en-US" sz="2400" dirty="0"/>
              <a:t>Flowchart </a:t>
            </a:r>
            <a:r>
              <a:rPr lang="el-GR" sz="2400" dirty="0"/>
              <a:t>για </a:t>
            </a:r>
            <a:r>
              <a:rPr lang="en-US" sz="2400" dirty="0"/>
              <a:t>Terminal Calculator</a:t>
            </a:r>
            <a:endParaRPr lang="el-GR" sz="2400" dirty="0"/>
          </a:p>
        </p:txBody>
      </p:sp>
      <p:pic>
        <p:nvPicPr>
          <p:cNvPr id="5" name="Θέση περιεχομένου 4">
            <a:extLst>
              <a:ext uri="{FF2B5EF4-FFF2-40B4-BE49-F238E27FC236}">
                <a16:creationId xmlns:a16="http://schemas.microsoft.com/office/drawing/2014/main" id="{89A02E08-6359-32DA-4342-AB96E54E0F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8812" y="2603500"/>
            <a:ext cx="6241002" cy="3797300"/>
          </a:xfrm>
        </p:spPr>
      </p:pic>
    </p:spTree>
    <p:extLst>
      <p:ext uri="{BB962C8B-B14F-4D97-AF65-F5344CB8AC3E}">
        <p14:creationId xmlns:p14="http://schemas.microsoft.com/office/powerpoint/2010/main" val="1224339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C7381C0-8565-1ADE-50D1-5FF6D208295C}"/>
              </a:ext>
            </a:extLst>
          </p:cNvPr>
          <p:cNvSpPr>
            <a:spLocks noGrp="1"/>
          </p:cNvSpPr>
          <p:nvPr>
            <p:ph type="title"/>
          </p:nvPr>
        </p:nvSpPr>
        <p:spPr>
          <a:xfrm>
            <a:off x="945419" y="697924"/>
            <a:ext cx="3777501" cy="1379451"/>
          </a:xfrm>
        </p:spPr>
        <p:txBody>
          <a:bodyPr/>
          <a:lstStyle/>
          <a:p>
            <a:r>
              <a:rPr lang="en-US" sz="2400" dirty="0"/>
              <a:t>GitHub repository </a:t>
            </a:r>
            <a:br>
              <a:rPr lang="en-US" sz="2400" dirty="0"/>
            </a:br>
            <a:endParaRPr lang="el-GR" sz="2400" dirty="0"/>
          </a:p>
        </p:txBody>
      </p:sp>
      <p:sp>
        <p:nvSpPr>
          <p:cNvPr id="4" name="TextBox 3">
            <a:extLst>
              <a:ext uri="{FF2B5EF4-FFF2-40B4-BE49-F238E27FC236}">
                <a16:creationId xmlns:a16="http://schemas.microsoft.com/office/drawing/2014/main" id="{E68F46F5-72C6-0F61-B6B0-539B55FCA8B0}"/>
              </a:ext>
            </a:extLst>
          </p:cNvPr>
          <p:cNvSpPr txBox="1"/>
          <p:nvPr/>
        </p:nvSpPr>
        <p:spPr>
          <a:xfrm>
            <a:off x="945419" y="1557577"/>
            <a:ext cx="4351023" cy="307777"/>
          </a:xfrm>
          <a:prstGeom prst="rect">
            <a:avLst/>
          </a:prstGeom>
          <a:noFill/>
        </p:spPr>
        <p:txBody>
          <a:bodyPr wrap="square" rtlCol="0">
            <a:spAutoFit/>
          </a:bodyPr>
          <a:lstStyle/>
          <a:p>
            <a:r>
              <a:rPr lang="en-US" sz="1400" dirty="0">
                <a:solidFill>
                  <a:schemeClr val="bg1"/>
                </a:solidFill>
              </a:rPr>
              <a:t>https://github.com/9IConIC6/Calculator</a:t>
            </a:r>
            <a:endParaRPr lang="el-GR" sz="1400" dirty="0">
              <a:solidFill>
                <a:schemeClr val="bg1"/>
              </a:solidFill>
            </a:endParaRPr>
          </a:p>
        </p:txBody>
      </p:sp>
      <p:pic>
        <p:nvPicPr>
          <p:cNvPr id="6" name="Εικόνα 5">
            <a:extLst>
              <a:ext uri="{FF2B5EF4-FFF2-40B4-BE49-F238E27FC236}">
                <a16:creationId xmlns:a16="http://schemas.microsoft.com/office/drawing/2014/main" id="{D60FEAEA-3DC6-B5D3-FF0C-5B3E63A3F7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2541" y="1171852"/>
            <a:ext cx="4983676" cy="2575475"/>
          </a:xfrm>
          <a:prstGeom prst="rect">
            <a:avLst/>
          </a:prstGeom>
        </p:spPr>
      </p:pic>
      <p:pic>
        <p:nvPicPr>
          <p:cNvPr id="8" name="Εικόνα 7">
            <a:extLst>
              <a:ext uri="{FF2B5EF4-FFF2-40B4-BE49-F238E27FC236}">
                <a16:creationId xmlns:a16="http://schemas.microsoft.com/office/drawing/2014/main" id="{B5A798F1-5DD4-9A49-43F3-477EB7DE15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2541" y="3747327"/>
            <a:ext cx="4984920" cy="2574746"/>
          </a:xfrm>
          <a:prstGeom prst="rect">
            <a:avLst/>
          </a:prstGeom>
        </p:spPr>
      </p:pic>
    </p:spTree>
    <p:extLst>
      <p:ext uri="{BB962C8B-B14F-4D97-AF65-F5344CB8AC3E}">
        <p14:creationId xmlns:p14="http://schemas.microsoft.com/office/powerpoint/2010/main" val="966438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65602C5-93B8-8884-11AC-1A4BBDD8D3F3}"/>
              </a:ext>
            </a:extLst>
          </p:cNvPr>
          <p:cNvSpPr>
            <a:spLocks noGrp="1"/>
          </p:cNvSpPr>
          <p:nvPr>
            <p:ph type="title"/>
          </p:nvPr>
        </p:nvSpPr>
        <p:spPr>
          <a:xfrm>
            <a:off x="1151368" y="743733"/>
            <a:ext cx="8761413" cy="728480"/>
          </a:xfrm>
        </p:spPr>
        <p:txBody>
          <a:bodyPr/>
          <a:lstStyle/>
          <a:p>
            <a:r>
              <a:rPr lang="en-US" sz="2400" dirty="0"/>
              <a:t>Demo</a:t>
            </a:r>
            <a:endParaRPr lang="el-GR" sz="2400" dirty="0"/>
          </a:p>
        </p:txBody>
      </p:sp>
      <p:pic>
        <p:nvPicPr>
          <p:cNvPr id="7" name="Θέση περιεχομένου 6">
            <a:extLst>
              <a:ext uri="{FF2B5EF4-FFF2-40B4-BE49-F238E27FC236}">
                <a16:creationId xmlns:a16="http://schemas.microsoft.com/office/drawing/2014/main" id="{268DC2DE-B835-C493-2256-0A49D83CBDE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18278" y="2768968"/>
            <a:ext cx="5459223" cy="3081415"/>
          </a:xfrm>
        </p:spPr>
      </p:pic>
      <p:pic>
        <p:nvPicPr>
          <p:cNvPr id="9" name="Θέση περιεχομένου 8">
            <a:extLst>
              <a:ext uri="{FF2B5EF4-FFF2-40B4-BE49-F238E27FC236}">
                <a16:creationId xmlns:a16="http://schemas.microsoft.com/office/drawing/2014/main" id="{8DBD8271-24AB-49C0-1D5F-D934FB260AB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38788" y="2768968"/>
            <a:ext cx="5334934" cy="3081415"/>
          </a:xfrm>
        </p:spPr>
      </p:pic>
      <p:sp>
        <p:nvSpPr>
          <p:cNvPr id="5" name="TextBox 4">
            <a:extLst>
              <a:ext uri="{FF2B5EF4-FFF2-40B4-BE49-F238E27FC236}">
                <a16:creationId xmlns:a16="http://schemas.microsoft.com/office/drawing/2014/main" id="{4E4AFF4C-70F9-2520-5390-81FDE742BCAD}"/>
              </a:ext>
            </a:extLst>
          </p:cNvPr>
          <p:cNvSpPr txBox="1"/>
          <p:nvPr/>
        </p:nvSpPr>
        <p:spPr>
          <a:xfrm>
            <a:off x="1083075" y="1318324"/>
            <a:ext cx="7128769" cy="523220"/>
          </a:xfrm>
          <a:prstGeom prst="rect">
            <a:avLst/>
          </a:prstGeom>
          <a:noFill/>
        </p:spPr>
        <p:txBody>
          <a:bodyPr wrap="square" rtlCol="0">
            <a:spAutoFit/>
          </a:bodyPr>
          <a:lstStyle/>
          <a:p>
            <a:r>
              <a:rPr lang="el-GR" sz="1400" dirty="0">
                <a:solidFill>
                  <a:schemeClr val="bg1"/>
                </a:solidFill>
              </a:rPr>
              <a:t>Ταυτόχρονα μπορούμε να δούμε τα βίντεο στο </a:t>
            </a:r>
            <a:r>
              <a:rPr lang="en-US" sz="1400" dirty="0">
                <a:solidFill>
                  <a:schemeClr val="bg1"/>
                </a:solidFill>
              </a:rPr>
              <a:t>repository </a:t>
            </a:r>
            <a:r>
              <a:rPr lang="el-GR" sz="1400" dirty="0">
                <a:solidFill>
                  <a:schemeClr val="bg1"/>
                </a:solidFill>
              </a:rPr>
              <a:t>καθώς και χρήση του προγράμματος σε υπολογιστή.</a:t>
            </a:r>
          </a:p>
        </p:txBody>
      </p:sp>
    </p:spTree>
    <p:extLst>
      <p:ext uri="{BB962C8B-B14F-4D97-AF65-F5344CB8AC3E}">
        <p14:creationId xmlns:p14="http://schemas.microsoft.com/office/powerpoint/2010/main" val="2822804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B4A0571-ACF7-04F2-BADC-1CC07985A922}"/>
              </a:ext>
            </a:extLst>
          </p:cNvPr>
          <p:cNvSpPr>
            <a:spLocks noGrp="1"/>
          </p:cNvSpPr>
          <p:nvPr>
            <p:ph type="title"/>
          </p:nvPr>
        </p:nvSpPr>
        <p:spPr>
          <a:xfrm>
            <a:off x="1154954" y="1295400"/>
            <a:ext cx="2635811" cy="746464"/>
          </a:xfrm>
        </p:spPr>
        <p:txBody>
          <a:bodyPr/>
          <a:lstStyle/>
          <a:p>
            <a:r>
              <a:rPr lang="en-US" dirty="0"/>
              <a:t>Qt Calculator</a:t>
            </a:r>
            <a:endParaRPr lang="el-GR" dirty="0"/>
          </a:p>
        </p:txBody>
      </p:sp>
      <p:sp>
        <p:nvSpPr>
          <p:cNvPr id="3" name="Θέση περιεχομένου 2">
            <a:extLst>
              <a:ext uri="{FF2B5EF4-FFF2-40B4-BE49-F238E27FC236}">
                <a16:creationId xmlns:a16="http://schemas.microsoft.com/office/drawing/2014/main" id="{878EFA70-8B81-6E1B-9F36-1FBCB0D5738B}"/>
              </a:ext>
            </a:extLst>
          </p:cNvPr>
          <p:cNvSpPr>
            <a:spLocks noGrp="1"/>
          </p:cNvSpPr>
          <p:nvPr>
            <p:ph idx="1"/>
          </p:nvPr>
        </p:nvSpPr>
        <p:spPr/>
        <p:txBody>
          <a:bodyPr>
            <a:normAutofit fontScale="77500" lnSpcReduction="20000"/>
          </a:bodyPr>
          <a:lstStyle/>
          <a:p>
            <a:r>
              <a:rPr lang="en-US" sz="1600" dirty="0"/>
              <a:t>T</a:t>
            </a:r>
            <a:r>
              <a:rPr lang="el-GR" sz="1600" dirty="0"/>
              <a:t>ο σύστημα της αριθμομηχανής είναι μια εφαρμογή βασισμένη στο </a:t>
            </a:r>
            <a:r>
              <a:rPr lang="el-GR" sz="1600" dirty="0" err="1"/>
              <a:t>Qt</a:t>
            </a:r>
            <a:r>
              <a:rPr lang="el-GR" sz="1600" dirty="0"/>
              <a:t> που προσφέρει τόσο βασική όσο και επιστημονική λειτουργικότητα.</a:t>
            </a:r>
            <a:endParaRPr lang="en-US" sz="1600" dirty="0"/>
          </a:p>
          <a:p>
            <a:r>
              <a:rPr lang="el-GR" sz="1600" dirty="0"/>
              <a:t> Χρησιμοποιεί μια προσέγγιση βασισμένη σε στοίβες για τη διαχείριση των υπολογισμών, με δύο κύρια στοιχεία </a:t>
            </a:r>
            <a:r>
              <a:rPr lang="el-GR" sz="1600" dirty="0" err="1"/>
              <a:t>διεπαφής</a:t>
            </a:r>
            <a:r>
              <a:rPr lang="el-GR" sz="1600" dirty="0"/>
              <a:t> χρήστη: </a:t>
            </a:r>
            <a:endParaRPr lang="en-US" sz="1600" dirty="0"/>
          </a:p>
          <a:p>
            <a:pPr lvl="1"/>
            <a:r>
              <a:rPr lang="el-GR" sz="1400" dirty="0"/>
              <a:t>Μια οθόνη για την εμφάνιση των τρεχόντων αριθμών </a:t>
            </a:r>
            <a:endParaRPr lang="en-US" sz="1400" dirty="0"/>
          </a:p>
          <a:p>
            <a:pPr lvl="1"/>
            <a:r>
              <a:rPr lang="el-GR" sz="1400" dirty="0"/>
              <a:t>Μια</a:t>
            </a:r>
            <a:r>
              <a:rPr lang="en-US" sz="1400" dirty="0"/>
              <a:t> </a:t>
            </a:r>
            <a:r>
              <a:rPr lang="el-GR" sz="1400" dirty="0"/>
              <a:t>ετικέτα έκφρασης για την πλήρη μαθηματική έκφραση. </a:t>
            </a:r>
          </a:p>
          <a:p>
            <a:r>
              <a:rPr lang="el-GR" sz="1600" dirty="0"/>
              <a:t>Όταν οι χρήστες εισάγουν αριθμούς και τελεστές, αυτοί αποθηκεύονται προσωρινά σε στοίβες. Πατώντας το πλήκτρο της ισότητας ενεργοποιείται η διαδικασία υπολογισμού που επιλύει την έκφραση χρησιμοποιώντας αυτές τις στοίβες.</a:t>
            </a:r>
          </a:p>
          <a:p>
            <a:r>
              <a:rPr lang="el-GR" sz="1600" dirty="0"/>
              <a:t>Το σύστημα υποστηρίζει διάφορες λειτουργίες, όπως βασικές αριθμητικές πράξεις, επιστημονικές συναρτήσεις (</a:t>
            </a:r>
            <a:r>
              <a:rPr lang="el-GR" sz="1600" dirty="0" err="1"/>
              <a:t>sin</a:t>
            </a:r>
            <a:r>
              <a:rPr lang="el-GR" sz="1600" dirty="0"/>
              <a:t>, </a:t>
            </a:r>
            <a:r>
              <a:rPr lang="el-GR" sz="1600" dirty="0" err="1"/>
              <a:t>cos</a:t>
            </a:r>
            <a:r>
              <a:rPr lang="el-GR" sz="1600" dirty="0"/>
              <a:t>, </a:t>
            </a:r>
            <a:r>
              <a:rPr lang="el-GR" sz="1600" dirty="0" err="1"/>
              <a:t>tan</a:t>
            </a:r>
            <a:r>
              <a:rPr lang="el-GR" sz="1600" dirty="0"/>
              <a:t>, </a:t>
            </a:r>
            <a:r>
              <a:rPr lang="el-GR" sz="1600" dirty="0" err="1"/>
              <a:t>arcsin</a:t>
            </a:r>
            <a:r>
              <a:rPr lang="el-GR" sz="1600" dirty="0"/>
              <a:t>, </a:t>
            </a:r>
            <a:r>
              <a:rPr lang="el-GR" sz="1600" dirty="0" err="1"/>
              <a:t>arcos</a:t>
            </a:r>
            <a:r>
              <a:rPr lang="el-GR" sz="1600" dirty="0"/>
              <a:t>) και επιπλέον λειτουργίες όπως ύψωση σε δύναμη και ρίζα. Όλοι οι υπολογισμοί καταγράφονται σε διανύσματα ιστορικού για εύκολη αναφορά.</a:t>
            </a:r>
          </a:p>
          <a:p>
            <a:r>
              <a:rPr lang="el-GR" sz="1600" dirty="0"/>
              <a:t>Η </a:t>
            </a:r>
            <a:r>
              <a:rPr lang="el-GR" sz="1600" dirty="0" err="1"/>
              <a:t>διεπαφή</a:t>
            </a:r>
            <a:r>
              <a:rPr lang="el-GR" sz="1600" dirty="0"/>
              <a:t> χρησιμοποιεί διάταξη πλέγματος με καλαίσθητα κουμπιά και διατηρεί μια καθαρή, μοντέρνα εμφάνιση με ημιδιαφανή φόντα.</a:t>
            </a:r>
          </a:p>
          <a:p>
            <a:endParaRPr lang="el-GR" dirty="0"/>
          </a:p>
        </p:txBody>
      </p:sp>
      <p:sp>
        <p:nvSpPr>
          <p:cNvPr id="4" name="Θέση κειμένου 3">
            <a:extLst>
              <a:ext uri="{FF2B5EF4-FFF2-40B4-BE49-F238E27FC236}">
                <a16:creationId xmlns:a16="http://schemas.microsoft.com/office/drawing/2014/main" id="{80FA470A-8E1B-8FD6-46C3-2ED73A6CFB10}"/>
              </a:ext>
            </a:extLst>
          </p:cNvPr>
          <p:cNvSpPr>
            <a:spLocks noGrp="1"/>
          </p:cNvSpPr>
          <p:nvPr>
            <p:ph type="body" sz="half" idx="2"/>
          </p:nvPr>
        </p:nvSpPr>
        <p:spPr>
          <a:xfrm>
            <a:off x="1076280" y="2667001"/>
            <a:ext cx="2793158" cy="2895599"/>
          </a:xfrm>
        </p:spPr>
        <p:txBody>
          <a:bodyPr/>
          <a:lstStyle/>
          <a:p>
            <a:pPr marL="285750" indent="-285750">
              <a:buFont typeface="Arial" panose="020B0604020202020204" pitchFamily="34" charset="0"/>
              <a:buChar char="•"/>
            </a:pPr>
            <a:r>
              <a:rPr lang="el-GR" dirty="0"/>
              <a:t>Λειτουργικότητα συστήματος</a:t>
            </a:r>
          </a:p>
          <a:p>
            <a:pPr marL="285750" indent="-285750">
              <a:buFont typeface="Arial" panose="020B0604020202020204" pitchFamily="34" charset="0"/>
              <a:buChar char="•"/>
            </a:pPr>
            <a:r>
              <a:rPr lang="el-GR" dirty="0"/>
              <a:t>Τεχνολογίες που χρησιμοποιήθηκαν.</a:t>
            </a:r>
          </a:p>
          <a:p>
            <a:endParaRPr lang="el-GR" dirty="0"/>
          </a:p>
        </p:txBody>
      </p:sp>
    </p:spTree>
    <p:extLst>
      <p:ext uri="{BB962C8B-B14F-4D97-AF65-F5344CB8AC3E}">
        <p14:creationId xmlns:p14="http://schemas.microsoft.com/office/powerpoint/2010/main" val="2974872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3ED991-AF2A-C174-B31B-F1C0D06BB6A1}"/>
              </a:ext>
            </a:extLst>
          </p:cNvPr>
          <p:cNvSpPr txBox="1"/>
          <p:nvPr/>
        </p:nvSpPr>
        <p:spPr>
          <a:xfrm>
            <a:off x="1846554" y="2592280"/>
            <a:ext cx="7448366" cy="3200876"/>
          </a:xfrm>
          <a:prstGeom prst="rect">
            <a:avLst/>
          </a:prstGeom>
          <a:noFill/>
        </p:spPr>
        <p:txBody>
          <a:bodyPr wrap="square" rtlCol="0">
            <a:spAutoFit/>
          </a:bodyPr>
          <a:lstStyle/>
          <a:p>
            <a:r>
              <a:rPr lang="el-GR" sz="1200" dirty="0"/>
              <a:t>Στο πρόγραμμα χρησιμοποιήθηκαν οι παρακάτω βιβλιοθήκες</a:t>
            </a:r>
            <a:r>
              <a:rPr lang="en-US" sz="1200" dirty="0"/>
              <a:t>:</a:t>
            </a:r>
          </a:p>
          <a:p>
            <a:pPr marL="628650" lvl="1" indent="-171450">
              <a:buFont typeface="Arial" panose="020B0604020202020204" pitchFamily="34" charset="0"/>
              <a:buChar char="•"/>
            </a:pPr>
            <a:r>
              <a:rPr lang="en-US" sz="1000" dirty="0"/>
              <a:t>#include "</a:t>
            </a:r>
            <a:r>
              <a:rPr lang="en-US" sz="1000" dirty="0" err="1"/>
              <a:t>calculatorwidget.h</a:t>
            </a:r>
            <a:r>
              <a:rPr lang="en-US" sz="1000" dirty="0"/>
              <a:t>“ : </a:t>
            </a:r>
            <a:r>
              <a:rPr lang="el-GR" sz="1000" dirty="0"/>
              <a:t>Είναι ένα αρχείο </a:t>
            </a:r>
            <a:r>
              <a:rPr lang="el-GR" sz="1000" dirty="0" err="1"/>
              <a:t>header</a:t>
            </a:r>
            <a:r>
              <a:rPr lang="el-GR" sz="1000" dirty="0"/>
              <a:t> που περιλαμβάνει τη δήλωση της κλάσης </a:t>
            </a:r>
            <a:r>
              <a:rPr lang="el-GR" sz="1000" dirty="0" err="1"/>
              <a:t>CalculatorWidget</a:t>
            </a:r>
            <a:r>
              <a:rPr lang="en-US" sz="1000" dirty="0"/>
              <a:t>.</a:t>
            </a:r>
          </a:p>
          <a:p>
            <a:pPr marL="628650" lvl="1" indent="-171450">
              <a:buFont typeface="Arial" panose="020B0604020202020204" pitchFamily="34" charset="0"/>
              <a:buChar char="•"/>
            </a:pPr>
            <a:r>
              <a:rPr lang="en-US" sz="1000" dirty="0"/>
              <a:t>#include &lt;</a:t>
            </a:r>
            <a:r>
              <a:rPr lang="en-US" sz="1000" dirty="0" err="1"/>
              <a:t>QPushButton</a:t>
            </a:r>
            <a:r>
              <a:rPr lang="en-US" sz="1000" dirty="0"/>
              <a:t>&gt; : </a:t>
            </a:r>
            <a:r>
              <a:rPr lang="el-GR" sz="1000" dirty="0"/>
              <a:t>Για να δημιουργείς και να χειρίζεσαι κουμπιά</a:t>
            </a:r>
            <a:r>
              <a:rPr lang="en-US" sz="1000" dirty="0"/>
              <a:t>.</a:t>
            </a:r>
          </a:p>
          <a:p>
            <a:pPr marL="628650" lvl="1" indent="-171450">
              <a:buFont typeface="Arial" panose="020B0604020202020204" pitchFamily="34" charset="0"/>
              <a:buChar char="•"/>
            </a:pPr>
            <a:r>
              <a:rPr lang="en-US" sz="1000" dirty="0"/>
              <a:t>#include &lt;</a:t>
            </a:r>
            <a:r>
              <a:rPr lang="en-US" sz="1000" dirty="0" err="1"/>
              <a:t>QGridLayout</a:t>
            </a:r>
            <a:r>
              <a:rPr lang="en-US" sz="1000" dirty="0"/>
              <a:t>&gt; : </a:t>
            </a:r>
            <a:r>
              <a:rPr lang="el-GR" sz="1000" dirty="0"/>
              <a:t>Διάταξη τύπου πλέγματος (</a:t>
            </a:r>
            <a:r>
              <a:rPr lang="el-GR" sz="1000" dirty="0" err="1"/>
              <a:t>grid</a:t>
            </a:r>
            <a:r>
              <a:rPr lang="el-GR" sz="1000" dirty="0"/>
              <a:t>), χρήσιμη για τοποθέτηση κουμπιών</a:t>
            </a:r>
            <a:r>
              <a:rPr lang="en-US" sz="1000" dirty="0"/>
              <a:t>.</a:t>
            </a:r>
          </a:p>
          <a:p>
            <a:pPr marL="628650" lvl="1" indent="-171450">
              <a:buFont typeface="Arial" panose="020B0604020202020204" pitchFamily="34" charset="0"/>
              <a:buChar char="•"/>
            </a:pPr>
            <a:r>
              <a:rPr lang="en-US" sz="1000" dirty="0"/>
              <a:t>#include &lt;</a:t>
            </a:r>
            <a:r>
              <a:rPr lang="en-US" sz="1000" dirty="0" err="1"/>
              <a:t>QMessageBox</a:t>
            </a:r>
            <a:r>
              <a:rPr lang="en-US" sz="1000" dirty="0"/>
              <a:t>&gt; : </a:t>
            </a:r>
            <a:r>
              <a:rPr lang="el-GR" sz="1000" dirty="0"/>
              <a:t>Για εμφάνιση παραθύρων μηνυμάτων (π.χ. σφάλματα, ειδοποιήσεις στον χρήστη).</a:t>
            </a:r>
            <a:endParaRPr lang="en-US" sz="1000" dirty="0"/>
          </a:p>
          <a:p>
            <a:pPr marL="628650" lvl="1" indent="-171450">
              <a:buFont typeface="Arial" panose="020B0604020202020204" pitchFamily="34" charset="0"/>
              <a:buChar char="•"/>
            </a:pPr>
            <a:r>
              <a:rPr lang="en-US" sz="1000" dirty="0"/>
              <a:t>#include &lt;</a:t>
            </a:r>
            <a:r>
              <a:rPr lang="en-US" sz="1000" dirty="0" err="1"/>
              <a:t>QWidget</a:t>
            </a:r>
            <a:r>
              <a:rPr lang="en-US" sz="1000" dirty="0"/>
              <a:t>&gt; : </a:t>
            </a:r>
            <a:r>
              <a:rPr lang="el-GR" sz="1000" dirty="0"/>
              <a:t>Βασική κλάση για όλα τα γραφικά στοιχεία του </a:t>
            </a:r>
            <a:r>
              <a:rPr lang="el-GR" sz="1000" dirty="0" err="1"/>
              <a:t>Qt</a:t>
            </a:r>
            <a:r>
              <a:rPr lang="el-GR" sz="1000" dirty="0"/>
              <a:t>.</a:t>
            </a:r>
            <a:endParaRPr lang="en-US" sz="1000" dirty="0"/>
          </a:p>
          <a:p>
            <a:pPr marL="628650" lvl="1" indent="-171450">
              <a:buFont typeface="Arial" panose="020B0604020202020204" pitchFamily="34" charset="0"/>
              <a:buChar char="•"/>
            </a:pPr>
            <a:r>
              <a:rPr lang="en-US" sz="1000" dirty="0"/>
              <a:t>#include &lt;</a:t>
            </a:r>
            <a:r>
              <a:rPr lang="en-US" sz="1000" dirty="0" err="1"/>
              <a:t>QLineEdit</a:t>
            </a:r>
            <a:r>
              <a:rPr lang="en-US" sz="1000" dirty="0"/>
              <a:t>&gt;: </a:t>
            </a:r>
            <a:r>
              <a:rPr lang="el-GR" sz="1000" dirty="0"/>
              <a:t>Χρησιμοποιείται για την εμφάνιση/εισαγωγή κειμένου</a:t>
            </a:r>
            <a:r>
              <a:rPr lang="en-US" sz="1000" dirty="0"/>
              <a:t>.</a:t>
            </a:r>
          </a:p>
          <a:p>
            <a:pPr marL="628650" lvl="1" indent="-171450">
              <a:buFont typeface="Arial" panose="020B0604020202020204" pitchFamily="34" charset="0"/>
              <a:buChar char="•"/>
            </a:pPr>
            <a:r>
              <a:rPr lang="en-US" sz="1000" dirty="0"/>
              <a:t>#include &lt;</a:t>
            </a:r>
            <a:r>
              <a:rPr lang="en-US" sz="1000" dirty="0" err="1"/>
              <a:t>QLabel</a:t>
            </a:r>
            <a:r>
              <a:rPr lang="en-US" sz="1000" dirty="0"/>
              <a:t>&gt; : </a:t>
            </a:r>
            <a:r>
              <a:rPr lang="el-GR" sz="1000" dirty="0"/>
              <a:t>Για στατικές ετικέτες κειμένου (όπως η εμφάνιση της πλήρους μαθηματικής έκφρασης).</a:t>
            </a:r>
            <a:endParaRPr lang="en-US" sz="1000" dirty="0"/>
          </a:p>
          <a:p>
            <a:pPr marL="628650" lvl="1" indent="-171450">
              <a:buFont typeface="Arial" panose="020B0604020202020204" pitchFamily="34" charset="0"/>
              <a:buChar char="•"/>
            </a:pPr>
            <a:r>
              <a:rPr lang="en-US" sz="1000" dirty="0"/>
              <a:t>#include &lt;</a:t>
            </a:r>
            <a:r>
              <a:rPr lang="en-US" sz="1000" dirty="0" err="1"/>
              <a:t>QApplication</a:t>
            </a:r>
            <a:r>
              <a:rPr lang="en-US" sz="1000" dirty="0"/>
              <a:t>&gt; : </a:t>
            </a:r>
            <a:r>
              <a:rPr lang="el-GR" sz="1000" dirty="0"/>
              <a:t>Απαραίτητη για κάθε </a:t>
            </a:r>
            <a:r>
              <a:rPr lang="el-GR" sz="1000" dirty="0" err="1"/>
              <a:t>Qt</a:t>
            </a:r>
            <a:r>
              <a:rPr lang="el-GR" sz="1000" dirty="0"/>
              <a:t> εφαρμογή — </a:t>
            </a:r>
            <a:r>
              <a:rPr lang="el-GR" sz="1000" dirty="0" err="1"/>
              <a:t>αρχικοποιεί</a:t>
            </a:r>
            <a:r>
              <a:rPr lang="el-GR" sz="1000" dirty="0"/>
              <a:t> το περιβάλλον και διαχειρίζεται το κύριο </a:t>
            </a:r>
            <a:r>
              <a:rPr lang="el-GR" sz="1000" dirty="0" err="1"/>
              <a:t>event</a:t>
            </a:r>
            <a:r>
              <a:rPr lang="el-GR" sz="1000" dirty="0"/>
              <a:t> </a:t>
            </a:r>
            <a:r>
              <a:rPr lang="el-GR" sz="1000" dirty="0" err="1"/>
              <a:t>loop</a:t>
            </a:r>
            <a:r>
              <a:rPr lang="el-GR" sz="1000" dirty="0"/>
              <a:t>.</a:t>
            </a:r>
            <a:endParaRPr lang="en-US" sz="1000" dirty="0"/>
          </a:p>
          <a:p>
            <a:pPr marL="628650" lvl="1" indent="-171450">
              <a:buFont typeface="Arial" panose="020B0604020202020204" pitchFamily="34" charset="0"/>
              <a:buChar char="•"/>
            </a:pPr>
            <a:r>
              <a:rPr lang="en-US" sz="1000" dirty="0"/>
              <a:t>#include &lt;</a:t>
            </a:r>
            <a:r>
              <a:rPr lang="en-US" sz="1000" dirty="0" err="1"/>
              <a:t>QStyle</a:t>
            </a:r>
            <a:r>
              <a:rPr lang="en-US" sz="1000" dirty="0"/>
              <a:t>&gt; : </a:t>
            </a:r>
            <a:r>
              <a:rPr lang="el-GR" sz="1000" dirty="0"/>
              <a:t>Επιτρέπει την τροποποίηση του οπτικού στυλ των </a:t>
            </a:r>
            <a:r>
              <a:rPr lang="el-GR" sz="1000" dirty="0" err="1"/>
              <a:t>widgets</a:t>
            </a:r>
            <a:r>
              <a:rPr lang="el-GR" sz="1000" dirty="0"/>
              <a:t> σύμφωνα με το λειτουργικό σύστημα.</a:t>
            </a:r>
            <a:endParaRPr lang="en-US" sz="1000" dirty="0"/>
          </a:p>
          <a:p>
            <a:pPr marL="628650" lvl="1" indent="-171450">
              <a:buFont typeface="Arial" panose="020B0604020202020204" pitchFamily="34" charset="0"/>
              <a:buChar char="•"/>
            </a:pPr>
            <a:r>
              <a:rPr lang="en-US" sz="1000" dirty="0"/>
              <a:t>#include &lt;</a:t>
            </a:r>
            <a:r>
              <a:rPr lang="en-US" sz="1000" dirty="0" err="1"/>
              <a:t>QFont</a:t>
            </a:r>
            <a:r>
              <a:rPr lang="en-US" sz="1000" dirty="0"/>
              <a:t>&gt; : </a:t>
            </a:r>
            <a:r>
              <a:rPr lang="el-GR" sz="1000" dirty="0"/>
              <a:t>Επιτρέπει τον ορισμό γραμματοσειρών για </a:t>
            </a:r>
            <a:r>
              <a:rPr lang="el-GR" sz="1000" dirty="0" err="1"/>
              <a:t>widgets</a:t>
            </a:r>
            <a:endParaRPr lang="en-US" sz="1000" dirty="0"/>
          </a:p>
          <a:p>
            <a:pPr marL="628650" lvl="1" indent="-171450">
              <a:buFont typeface="Arial" panose="020B0604020202020204" pitchFamily="34" charset="0"/>
              <a:buChar char="•"/>
            </a:pPr>
            <a:r>
              <a:rPr lang="en-US" sz="1000" dirty="0"/>
              <a:t>#include &lt;</a:t>
            </a:r>
            <a:r>
              <a:rPr lang="en-US" sz="1000" dirty="0" err="1"/>
              <a:t>cmath</a:t>
            </a:r>
            <a:r>
              <a:rPr lang="en-US" sz="1000" dirty="0"/>
              <a:t>&gt; : </a:t>
            </a:r>
            <a:r>
              <a:rPr lang="el-GR" sz="1000" dirty="0"/>
              <a:t>για μαθηματικές συναρτήσεις όπως</a:t>
            </a:r>
            <a:endParaRPr lang="en-US" sz="1000" dirty="0"/>
          </a:p>
          <a:p>
            <a:pPr marL="628650" lvl="1" indent="-171450">
              <a:buFont typeface="Arial" panose="020B0604020202020204" pitchFamily="34" charset="0"/>
              <a:buChar char="•"/>
            </a:pPr>
            <a:r>
              <a:rPr lang="en-US" sz="1000" dirty="0"/>
              <a:t>#include &lt;</a:t>
            </a:r>
            <a:r>
              <a:rPr lang="en-US" sz="1000" dirty="0" err="1"/>
              <a:t>QStack</a:t>
            </a:r>
            <a:r>
              <a:rPr lang="en-US" sz="1000" dirty="0"/>
              <a:t>&gt; : </a:t>
            </a:r>
            <a:r>
              <a:rPr lang="el-GR" sz="1000" dirty="0" err="1"/>
              <a:t>Qt</a:t>
            </a:r>
            <a:r>
              <a:rPr lang="el-GR" sz="1000" dirty="0"/>
              <a:t> </a:t>
            </a:r>
            <a:r>
              <a:rPr lang="el-GR" sz="1000" dirty="0" err="1"/>
              <a:t>container</a:t>
            </a:r>
            <a:r>
              <a:rPr lang="el-GR" sz="1000" dirty="0"/>
              <a:t> </a:t>
            </a:r>
            <a:r>
              <a:rPr lang="el-GR" sz="1000" dirty="0" err="1"/>
              <a:t>class</a:t>
            </a:r>
            <a:r>
              <a:rPr lang="el-GR" sz="1000" dirty="0"/>
              <a:t> — στοίβα </a:t>
            </a:r>
            <a:r>
              <a:rPr lang="en-US" sz="1000" dirty="0"/>
              <a:t>,</a:t>
            </a:r>
            <a:r>
              <a:rPr lang="el-GR" sz="1000" dirty="0"/>
              <a:t>ιδανική για την υλοποίηση του </a:t>
            </a:r>
            <a:r>
              <a:rPr lang="el-GR" sz="1000" dirty="0" err="1"/>
              <a:t>stack-based</a:t>
            </a:r>
            <a:r>
              <a:rPr lang="el-GR" sz="1000" dirty="0"/>
              <a:t> υπολογιστικού σου συστήματος.</a:t>
            </a:r>
            <a:endParaRPr lang="en-US" sz="1000" dirty="0"/>
          </a:p>
          <a:p>
            <a:pPr marL="628650" lvl="1" indent="-171450">
              <a:buFont typeface="Arial" panose="020B0604020202020204" pitchFamily="34" charset="0"/>
              <a:buChar char="•"/>
            </a:pPr>
            <a:r>
              <a:rPr lang="en-US" sz="1000" dirty="0"/>
              <a:t>#include &lt;</a:t>
            </a:r>
            <a:r>
              <a:rPr lang="en-US" sz="1000" dirty="0" err="1"/>
              <a:t>QVector</a:t>
            </a:r>
            <a:r>
              <a:rPr lang="en-US" sz="1000" dirty="0"/>
              <a:t>&gt; : </a:t>
            </a:r>
            <a:r>
              <a:rPr lang="el-GR" sz="1000" dirty="0" err="1"/>
              <a:t>Qt</a:t>
            </a:r>
            <a:r>
              <a:rPr lang="el-GR" sz="1000" dirty="0"/>
              <a:t> </a:t>
            </a:r>
            <a:r>
              <a:rPr lang="el-GR" sz="1000" dirty="0" err="1"/>
              <a:t>container</a:t>
            </a:r>
            <a:r>
              <a:rPr lang="el-GR" sz="1000" dirty="0"/>
              <a:t> </a:t>
            </a:r>
            <a:r>
              <a:rPr lang="el-GR" sz="1000" dirty="0" err="1"/>
              <a:t>class</a:t>
            </a:r>
            <a:r>
              <a:rPr lang="el-GR" sz="1000" dirty="0"/>
              <a:t> — δυναμικός πίνακας που λειτουργεί σαν </a:t>
            </a:r>
            <a:r>
              <a:rPr lang="el-GR" sz="1000" dirty="0" err="1"/>
              <a:t>vector</a:t>
            </a:r>
            <a:r>
              <a:rPr lang="el-GR" sz="1000" dirty="0"/>
              <a:t>.</a:t>
            </a:r>
            <a:endParaRPr lang="en-US" sz="1000" dirty="0"/>
          </a:p>
          <a:p>
            <a:pPr marL="628650" lvl="1" indent="-171450">
              <a:buFont typeface="Arial" panose="020B0604020202020204" pitchFamily="34" charset="0"/>
              <a:buChar char="•"/>
            </a:pPr>
            <a:endParaRPr lang="el-GR" sz="1000" dirty="0"/>
          </a:p>
        </p:txBody>
      </p:sp>
    </p:spTree>
    <p:extLst>
      <p:ext uri="{BB962C8B-B14F-4D97-AF65-F5344CB8AC3E}">
        <p14:creationId xmlns:p14="http://schemas.microsoft.com/office/powerpoint/2010/main" val="1549910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2980262-30F5-CC47-B079-439BE9116F07}"/>
              </a:ext>
            </a:extLst>
          </p:cNvPr>
          <p:cNvSpPr>
            <a:spLocks noGrp="1"/>
          </p:cNvSpPr>
          <p:nvPr>
            <p:ph type="title"/>
          </p:nvPr>
        </p:nvSpPr>
        <p:spPr/>
        <p:txBody>
          <a:bodyPr/>
          <a:lstStyle/>
          <a:p>
            <a:r>
              <a:rPr lang="en-US" sz="2400" dirty="0"/>
              <a:t>Flowchart </a:t>
            </a:r>
            <a:r>
              <a:rPr lang="el-GR" sz="2400" dirty="0"/>
              <a:t>για </a:t>
            </a:r>
            <a:r>
              <a:rPr lang="en-US" sz="2400" dirty="0"/>
              <a:t>Terminal Calculator</a:t>
            </a:r>
            <a:endParaRPr lang="el-GR" sz="2400" dirty="0"/>
          </a:p>
        </p:txBody>
      </p:sp>
      <p:pic>
        <p:nvPicPr>
          <p:cNvPr id="5" name="Θέση περιεχομένου 4">
            <a:extLst>
              <a:ext uri="{FF2B5EF4-FFF2-40B4-BE49-F238E27FC236}">
                <a16:creationId xmlns:a16="http://schemas.microsoft.com/office/drawing/2014/main" id="{B300DE79-F1B5-C143-3B0D-82359B3611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9922" y="2496968"/>
            <a:ext cx="8096445" cy="3699646"/>
          </a:xfrm>
        </p:spPr>
      </p:pic>
    </p:spTree>
    <p:extLst>
      <p:ext uri="{BB962C8B-B14F-4D97-AF65-F5344CB8AC3E}">
        <p14:creationId xmlns:p14="http://schemas.microsoft.com/office/powerpoint/2010/main" val="4060162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471BA-9370-E935-A48F-3D84342501CA}"/>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EA843AAD-2FF0-96BD-BF27-70A72B753BCC}"/>
              </a:ext>
            </a:extLst>
          </p:cNvPr>
          <p:cNvSpPr>
            <a:spLocks noGrp="1"/>
          </p:cNvSpPr>
          <p:nvPr>
            <p:ph type="title"/>
          </p:nvPr>
        </p:nvSpPr>
        <p:spPr>
          <a:xfrm>
            <a:off x="945419" y="697924"/>
            <a:ext cx="3777501" cy="1379451"/>
          </a:xfrm>
        </p:spPr>
        <p:txBody>
          <a:bodyPr/>
          <a:lstStyle/>
          <a:p>
            <a:r>
              <a:rPr lang="en-US" sz="2400" dirty="0"/>
              <a:t>GitHub repository </a:t>
            </a:r>
            <a:br>
              <a:rPr lang="en-US" sz="2400" dirty="0"/>
            </a:br>
            <a:endParaRPr lang="el-GR" sz="2400" dirty="0"/>
          </a:p>
        </p:txBody>
      </p:sp>
      <p:sp>
        <p:nvSpPr>
          <p:cNvPr id="4" name="TextBox 3">
            <a:extLst>
              <a:ext uri="{FF2B5EF4-FFF2-40B4-BE49-F238E27FC236}">
                <a16:creationId xmlns:a16="http://schemas.microsoft.com/office/drawing/2014/main" id="{FDFBDA37-44B6-748A-DA57-AF4825DF009B}"/>
              </a:ext>
            </a:extLst>
          </p:cNvPr>
          <p:cNvSpPr txBox="1"/>
          <p:nvPr/>
        </p:nvSpPr>
        <p:spPr>
          <a:xfrm>
            <a:off x="945419" y="1557577"/>
            <a:ext cx="4351023" cy="307777"/>
          </a:xfrm>
          <a:prstGeom prst="rect">
            <a:avLst/>
          </a:prstGeom>
          <a:noFill/>
        </p:spPr>
        <p:txBody>
          <a:bodyPr wrap="square" rtlCol="0">
            <a:spAutoFit/>
          </a:bodyPr>
          <a:lstStyle/>
          <a:p>
            <a:r>
              <a:rPr lang="en-US" sz="1400" dirty="0">
                <a:solidFill>
                  <a:schemeClr val="bg1"/>
                </a:solidFill>
              </a:rPr>
              <a:t>https://github.com/9IConIC6/Calculator</a:t>
            </a:r>
            <a:endParaRPr lang="el-GR" sz="1400" dirty="0">
              <a:solidFill>
                <a:schemeClr val="bg1"/>
              </a:solidFill>
            </a:endParaRPr>
          </a:p>
        </p:txBody>
      </p:sp>
      <p:pic>
        <p:nvPicPr>
          <p:cNvPr id="6" name="Εικόνα 5">
            <a:extLst>
              <a:ext uri="{FF2B5EF4-FFF2-40B4-BE49-F238E27FC236}">
                <a16:creationId xmlns:a16="http://schemas.microsoft.com/office/drawing/2014/main" id="{8191D488-6697-C225-95CB-6F59727D7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2541" y="1171852"/>
            <a:ext cx="4983676" cy="2575475"/>
          </a:xfrm>
          <a:prstGeom prst="rect">
            <a:avLst/>
          </a:prstGeom>
        </p:spPr>
      </p:pic>
      <p:pic>
        <p:nvPicPr>
          <p:cNvPr id="8" name="Εικόνα 7">
            <a:extLst>
              <a:ext uri="{FF2B5EF4-FFF2-40B4-BE49-F238E27FC236}">
                <a16:creationId xmlns:a16="http://schemas.microsoft.com/office/drawing/2014/main" id="{74B0E3CB-168F-9081-F8B5-0E20CD58EA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2541" y="3747327"/>
            <a:ext cx="4984920" cy="2574746"/>
          </a:xfrm>
          <a:prstGeom prst="rect">
            <a:avLst/>
          </a:prstGeom>
        </p:spPr>
      </p:pic>
    </p:spTree>
    <p:extLst>
      <p:ext uri="{BB962C8B-B14F-4D97-AF65-F5344CB8AC3E}">
        <p14:creationId xmlns:p14="http://schemas.microsoft.com/office/powerpoint/2010/main" val="3358420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78B02-9BC4-8EC6-61AC-495044C1E4D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C246BBB7-6FB1-660D-1BDD-F740770FD8EE}"/>
              </a:ext>
            </a:extLst>
          </p:cNvPr>
          <p:cNvSpPr>
            <a:spLocks noGrp="1"/>
          </p:cNvSpPr>
          <p:nvPr>
            <p:ph type="title"/>
          </p:nvPr>
        </p:nvSpPr>
        <p:spPr>
          <a:xfrm>
            <a:off x="1151368" y="743733"/>
            <a:ext cx="8761413" cy="728480"/>
          </a:xfrm>
        </p:spPr>
        <p:txBody>
          <a:bodyPr/>
          <a:lstStyle/>
          <a:p>
            <a:r>
              <a:rPr lang="en-US" sz="2400" dirty="0"/>
              <a:t>Demo</a:t>
            </a:r>
            <a:endParaRPr lang="el-GR" sz="2400" dirty="0"/>
          </a:p>
        </p:txBody>
      </p:sp>
      <p:sp>
        <p:nvSpPr>
          <p:cNvPr id="5" name="TextBox 4">
            <a:extLst>
              <a:ext uri="{FF2B5EF4-FFF2-40B4-BE49-F238E27FC236}">
                <a16:creationId xmlns:a16="http://schemas.microsoft.com/office/drawing/2014/main" id="{DF977C20-24BC-18FA-5DCD-B02A7817AB89}"/>
              </a:ext>
            </a:extLst>
          </p:cNvPr>
          <p:cNvSpPr txBox="1"/>
          <p:nvPr/>
        </p:nvSpPr>
        <p:spPr>
          <a:xfrm>
            <a:off x="1083075" y="1318324"/>
            <a:ext cx="7128769" cy="523220"/>
          </a:xfrm>
          <a:prstGeom prst="rect">
            <a:avLst/>
          </a:prstGeom>
          <a:noFill/>
        </p:spPr>
        <p:txBody>
          <a:bodyPr wrap="square" rtlCol="0">
            <a:spAutoFit/>
          </a:bodyPr>
          <a:lstStyle/>
          <a:p>
            <a:r>
              <a:rPr lang="el-GR" sz="1400" dirty="0">
                <a:solidFill>
                  <a:schemeClr val="bg1"/>
                </a:solidFill>
              </a:rPr>
              <a:t>Ταυτόχρονα μπορούμε να δούμε τα βίντεο στο </a:t>
            </a:r>
            <a:r>
              <a:rPr lang="en-US" sz="1400" dirty="0">
                <a:solidFill>
                  <a:schemeClr val="bg1"/>
                </a:solidFill>
              </a:rPr>
              <a:t>repository </a:t>
            </a:r>
            <a:r>
              <a:rPr lang="el-GR" sz="1400" dirty="0">
                <a:solidFill>
                  <a:schemeClr val="bg1"/>
                </a:solidFill>
              </a:rPr>
              <a:t>καθώς και χρήση του προγράμματος σε υπολογιστή.</a:t>
            </a:r>
          </a:p>
        </p:txBody>
      </p:sp>
      <p:pic>
        <p:nvPicPr>
          <p:cNvPr id="11" name="Θέση περιεχομένου 10">
            <a:extLst>
              <a:ext uri="{FF2B5EF4-FFF2-40B4-BE49-F238E27FC236}">
                <a16:creationId xmlns:a16="http://schemas.microsoft.com/office/drawing/2014/main" id="{46593F6E-ACED-DD93-B86D-1DC5110C849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51368" y="2416133"/>
            <a:ext cx="2749455" cy="4287773"/>
          </a:xfrm>
        </p:spPr>
      </p:pic>
      <p:pic>
        <p:nvPicPr>
          <p:cNvPr id="13" name="Θέση περιεχομένου 12">
            <a:extLst>
              <a:ext uri="{FF2B5EF4-FFF2-40B4-BE49-F238E27FC236}">
                <a16:creationId xmlns:a16="http://schemas.microsoft.com/office/drawing/2014/main" id="{D8CF7014-2C86-F76D-3017-AD22447B3C0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837376" y="2416133"/>
            <a:ext cx="2815175" cy="4287773"/>
          </a:xfrm>
        </p:spPr>
      </p:pic>
      <p:pic>
        <p:nvPicPr>
          <p:cNvPr id="15" name="Εικόνα 14">
            <a:extLst>
              <a:ext uri="{FF2B5EF4-FFF2-40B4-BE49-F238E27FC236}">
                <a16:creationId xmlns:a16="http://schemas.microsoft.com/office/drawing/2014/main" id="{107292E1-DA91-5431-BF7D-8A2E10829C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1179" y="2416133"/>
            <a:ext cx="2817925" cy="4287773"/>
          </a:xfrm>
          <a:prstGeom prst="rect">
            <a:avLst/>
          </a:prstGeom>
        </p:spPr>
      </p:pic>
    </p:spTree>
    <p:extLst>
      <p:ext uri="{BB962C8B-B14F-4D97-AF65-F5344CB8AC3E}">
        <p14:creationId xmlns:p14="http://schemas.microsoft.com/office/powerpoint/2010/main" val="3735054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0E13274-D9C1-CA3E-8C0D-701F79D40630}"/>
              </a:ext>
            </a:extLst>
          </p:cNvPr>
          <p:cNvSpPr>
            <a:spLocks noGrp="1"/>
          </p:cNvSpPr>
          <p:nvPr>
            <p:ph type="title"/>
          </p:nvPr>
        </p:nvSpPr>
        <p:spPr>
          <a:xfrm>
            <a:off x="868416" y="1287261"/>
            <a:ext cx="2902142" cy="658427"/>
          </a:xfrm>
        </p:spPr>
        <p:txBody>
          <a:bodyPr/>
          <a:lstStyle/>
          <a:p>
            <a:r>
              <a:rPr lang="el-GR" sz="2800" dirty="0"/>
              <a:t>Συμπεράσματα</a:t>
            </a:r>
          </a:p>
        </p:txBody>
      </p:sp>
      <p:sp>
        <p:nvSpPr>
          <p:cNvPr id="3" name="Θέση περιεχομένου 2">
            <a:extLst>
              <a:ext uri="{FF2B5EF4-FFF2-40B4-BE49-F238E27FC236}">
                <a16:creationId xmlns:a16="http://schemas.microsoft.com/office/drawing/2014/main" id="{E003B56C-5F01-D569-D5FA-06913041F6F3}"/>
              </a:ext>
            </a:extLst>
          </p:cNvPr>
          <p:cNvSpPr>
            <a:spLocks noGrp="1"/>
          </p:cNvSpPr>
          <p:nvPr>
            <p:ph idx="1"/>
          </p:nvPr>
        </p:nvSpPr>
        <p:spPr/>
        <p:txBody>
          <a:bodyPr>
            <a:normAutofit/>
          </a:bodyPr>
          <a:lstStyle/>
          <a:p>
            <a:r>
              <a:rPr lang="el-GR" sz="1400" dirty="0"/>
              <a:t>Το </a:t>
            </a:r>
            <a:r>
              <a:rPr lang="en-US" sz="1400" dirty="0"/>
              <a:t>project </a:t>
            </a:r>
            <a:r>
              <a:rPr lang="el-GR" sz="1400" dirty="0"/>
              <a:t>μου έδωσε την ευκαιρία να πειραματιστώ με διαφορά εργαλεία, πιο βασικό απ’ όλα το </a:t>
            </a:r>
            <a:r>
              <a:rPr lang="en-US" sz="1400" dirty="0"/>
              <a:t>Qt creator</a:t>
            </a:r>
            <a:r>
              <a:rPr lang="el-GR" sz="1400" dirty="0"/>
              <a:t> με το οποίο </a:t>
            </a:r>
            <a:r>
              <a:rPr lang="el-GR" sz="1400" dirty="0" err="1"/>
              <a:t>εφτιαξα</a:t>
            </a:r>
            <a:r>
              <a:rPr lang="el-GR" sz="1400" dirty="0"/>
              <a:t> ένα πολύ </a:t>
            </a:r>
            <a:r>
              <a:rPr lang="el-GR" sz="1400" dirty="0" err="1"/>
              <a:t>ομορφο</a:t>
            </a:r>
            <a:r>
              <a:rPr lang="el-GR" sz="1400" dirty="0"/>
              <a:t> αν και, προφανώς, όχι τέλειο πρόγραμμα. </a:t>
            </a:r>
          </a:p>
          <a:p>
            <a:r>
              <a:rPr lang="el-GR" sz="1400" dirty="0"/>
              <a:t>Έμαθα περισσότερα πράγματα για την διαδικασία δημιουργίας προγραμμάτων, για την γλώσσα </a:t>
            </a:r>
            <a:r>
              <a:rPr lang="en-US" sz="1400" dirty="0"/>
              <a:t>C++ </a:t>
            </a:r>
            <a:r>
              <a:rPr lang="el-GR" sz="1400" dirty="0"/>
              <a:t>καθώς και το </a:t>
            </a:r>
            <a:r>
              <a:rPr lang="en-US" sz="1400" dirty="0"/>
              <a:t>GitHub </a:t>
            </a:r>
            <a:r>
              <a:rPr lang="el-GR" sz="1400" dirty="0"/>
              <a:t>και την χρήση του.</a:t>
            </a:r>
          </a:p>
          <a:p>
            <a:r>
              <a:rPr lang="el-GR" sz="1400" dirty="0"/>
              <a:t>Χρησιμοποίησα βιβλιοθήκες που δεν είχα ιδέα τι κάνανε και πως λειτουργούσανε, και βρέθηκα αντιμετώπως με </a:t>
            </a:r>
            <a:r>
              <a:rPr lang="en-US" sz="1400" dirty="0"/>
              <a:t>errors</a:t>
            </a:r>
            <a:r>
              <a:rPr lang="el-GR" sz="1400" dirty="0"/>
              <a:t> που ακόμα και τώρα δεν είμαι 100 </a:t>
            </a:r>
            <a:r>
              <a:rPr lang="en-US" sz="1400" dirty="0"/>
              <a:t>% </a:t>
            </a:r>
            <a:r>
              <a:rPr lang="el-GR" sz="1400" dirty="0"/>
              <a:t>σίγουρος πως δημιουργηθήκανε και πως λυθήκανε.</a:t>
            </a:r>
          </a:p>
          <a:p>
            <a:r>
              <a:rPr lang="el-GR" sz="1400" dirty="0"/>
              <a:t>Γενικά τέλειωσα αυτήν την εργασία, αναφορά και παρουσίαση με πολύ περισσότερη γνώση πάνω στον προγραμματισμό και σε όλα τα εργαλεία που χρησιμοποιούμε για να φτιάξουμε μοντέρνα προγράμματα.</a:t>
            </a:r>
          </a:p>
        </p:txBody>
      </p:sp>
      <p:sp>
        <p:nvSpPr>
          <p:cNvPr id="4" name="Θέση κειμένου 3">
            <a:extLst>
              <a:ext uri="{FF2B5EF4-FFF2-40B4-BE49-F238E27FC236}">
                <a16:creationId xmlns:a16="http://schemas.microsoft.com/office/drawing/2014/main" id="{8024D17A-97BA-0402-45C6-F1BFB467C087}"/>
              </a:ext>
            </a:extLst>
          </p:cNvPr>
          <p:cNvSpPr>
            <a:spLocks noGrp="1"/>
          </p:cNvSpPr>
          <p:nvPr>
            <p:ph type="body" sz="half" idx="2"/>
          </p:nvPr>
        </p:nvSpPr>
        <p:spPr>
          <a:xfrm>
            <a:off x="977400" y="1945688"/>
            <a:ext cx="2793158" cy="2895599"/>
          </a:xfrm>
        </p:spPr>
        <p:txBody>
          <a:bodyPr>
            <a:normAutofit/>
          </a:bodyPr>
          <a:lstStyle/>
          <a:p>
            <a:r>
              <a:rPr lang="el-GR" sz="1000" dirty="0"/>
              <a:t>Και γενικότερα σχόλια.</a:t>
            </a:r>
          </a:p>
        </p:txBody>
      </p:sp>
    </p:spTree>
    <p:extLst>
      <p:ext uri="{BB962C8B-B14F-4D97-AF65-F5344CB8AC3E}">
        <p14:creationId xmlns:p14="http://schemas.microsoft.com/office/powerpoint/2010/main" val="2846746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21425E4-2F03-DF9B-705D-ECEEE1F47A3B}"/>
              </a:ext>
            </a:extLst>
          </p:cNvPr>
          <p:cNvSpPr>
            <a:spLocks noGrp="1"/>
          </p:cNvSpPr>
          <p:nvPr>
            <p:ph type="title"/>
          </p:nvPr>
        </p:nvSpPr>
        <p:spPr>
          <a:xfrm>
            <a:off x="852067" y="841075"/>
            <a:ext cx="4572189" cy="1538140"/>
          </a:xfrm>
        </p:spPr>
        <p:txBody>
          <a:bodyPr>
            <a:normAutofit/>
          </a:bodyPr>
          <a:lstStyle/>
          <a:p>
            <a:r>
              <a:rPr lang="el-GR" sz="2400" dirty="0"/>
              <a:t>Ευχαριστώ πάρα πολύ για τον χρόνο σας.</a:t>
            </a:r>
          </a:p>
        </p:txBody>
      </p:sp>
      <p:pic>
        <p:nvPicPr>
          <p:cNvPr id="9" name="Θέση εικόνας 8">
            <a:extLst>
              <a:ext uri="{FF2B5EF4-FFF2-40B4-BE49-F238E27FC236}">
                <a16:creationId xmlns:a16="http://schemas.microsoft.com/office/drawing/2014/main" id="{01726753-486F-BEBF-7CFD-F9E1BF0D6F29}"/>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286" b="286"/>
          <a:stretch>
            <a:fillRect/>
          </a:stretch>
        </p:blipFill>
        <p:spPr>
          <a:xfrm>
            <a:off x="6377315" y="841075"/>
            <a:ext cx="4572000" cy="5257800"/>
          </a:xfrm>
        </p:spPr>
      </p:pic>
    </p:spTree>
    <p:extLst>
      <p:ext uri="{BB962C8B-B14F-4D97-AF65-F5344CB8AC3E}">
        <p14:creationId xmlns:p14="http://schemas.microsoft.com/office/powerpoint/2010/main" val="3669907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Αίθουσα συσκέψεων &quot;Ιόν&quot;">
  <a:themeElements>
    <a:clrScheme name="Αίθουσα συσκέψεων &quot;Ιόν&quot;">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Αίθουσα συσκέψεων &quot;Ιόν&quot;">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Αίθουσα συσκέψεων &quot;Ιόν&quot;">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F1C4790-FE3C-4020-8CA7-00621DA7BBBC}"/>
    </a:ext>
  </a:extLst>
</a:theme>
</file>

<file path=docProps/app.xml><?xml version="1.0" encoding="utf-8"?>
<Properties xmlns="http://schemas.openxmlformats.org/officeDocument/2006/extended-properties" xmlns:vt="http://schemas.openxmlformats.org/officeDocument/2006/docPropsVTypes">
  <Template>Ion Boardroom</Template>
  <TotalTime>144</TotalTime>
  <Words>1533</Words>
  <Application>Microsoft Office PowerPoint</Application>
  <PresentationFormat>Ευρεία οθόνη</PresentationFormat>
  <Paragraphs>85</Paragraphs>
  <Slides>16</Slides>
  <Notes>0</Notes>
  <HiddenSlides>0</HiddenSlides>
  <MMClips>0</MMClips>
  <ScaleCrop>false</ScaleCrop>
  <HeadingPairs>
    <vt:vector size="6" baseType="variant">
      <vt:variant>
        <vt:lpstr>Γραμματοσειρές που χρησιμοποιούνται</vt:lpstr>
      </vt:variant>
      <vt:variant>
        <vt:i4>3</vt:i4>
      </vt:variant>
      <vt:variant>
        <vt:lpstr>Θέμα</vt:lpstr>
      </vt:variant>
      <vt:variant>
        <vt:i4>1</vt:i4>
      </vt:variant>
      <vt:variant>
        <vt:lpstr>Τίτλοι διαφανειών</vt:lpstr>
      </vt:variant>
      <vt:variant>
        <vt:i4>16</vt:i4>
      </vt:variant>
    </vt:vector>
  </HeadingPairs>
  <TitlesOfParts>
    <vt:vector size="20" baseType="lpstr">
      <vt:lpstr>Arial</vt:lpstr>
      <vt:lpstr>Century Gothic</vt:lpstr>
      <vt:lpstr>Wingdings 3</vt:lpstr>
      <vt:lpstr>Αίθουσα συσκέψεων "Ιόν"</vt:lpstr>
      <vt:lpstr>Εργασία Αντικειμενοστραφή προγραμματισμού Terminal Calculator &amp; Qt Calculator</vt:lpstr>
      <vt:lpstr>Επιλογή Project:</vt:lpstr>
      <vt:lpstr>Στόχοι και Δυνατότητες</vt:lpstr>
      <vt:lpstr>Σύγκριση των δυο Calculator</vt:lpstr>
      <vt:lpstr>Terminal Calculator</vt:lpstr>
      <vt:lpstr>Παρουσίαση του PowerPoint</vt:lpstr>
      <vt:lpstr>Flowchart για Terminal Calculator</vt:lpstr>
      <vt:lpstr>GitHub repository  </vt:lpstr>
      <vt:lpstr>Demo</vt:lpstr>
      <vt:lpstr>Qt Calculator</vt:lpstr>
      <vt:lpstr>Παρουσίαση του PowerPoint</vt:lpstr>
      <vt:lpstr>Flowchart για Terminal Calculator</vt:lpstr>
      <vt:lpstr>GitHub repository  </vt:lpstr>
      <vt:lpstr>Demo</vt:lpstr>
      <vt:lpstr>Συμπεράσματα</vt:lpstr>
      <vt:lpstr>Ευχαριστώ πάρα πολύ για τον χρόνο σας.</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Γιωργος Λεονταρακης</dc:creator>
  <cp:lastModifiedBy>Γιωργος Λεονταρακης</cp:lastModifiedBy>
  <cp:revision>2</cp:revision>
  <dcterms:created xsi:type="dcterms:W3CDTF">2025-06-05T20:39:52Z</dcterms:created>
  <dcterms:modified xsi:type="dcterms:W3CDTF">2025-06-05T23:04:39Z</dcterms:modified>
</cp:coreProperties>
</file>